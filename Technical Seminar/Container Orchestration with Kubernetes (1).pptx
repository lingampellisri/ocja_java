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256" r:id="rId5"/>
    <p:sldId id="3849" r:id="rId6"/>
    <p:sldId id="3846" r:id="rId7"/>
    <p:sldId id="261" r:id="rId8"/>
    <p:sldId id="3851" r:id="rId9"/>
    <p:sldId id="265" r:id="rId10"/>
    <p:sldId id="263" r:id="rId11"/>
    <p:sldId id="3848" r:id="rId12"/>
    <p:sldId id="3852" r:id="rId13"/>
    <p:sldId id="3853" r:id="rId14"/>
    <p:sldId id="3854" r:id="rId15"/>
    <p:sldId id="3855" r:id="rId16"/>
    <p:sldId id="3856" r:id="rId17"/>
    <p:sldId id="3857" r:id="rId18"/>
    <p:sldId id="3858" r:id="rId19"/>
    <p:sldId id="384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8" autoAdjust="0"/>
    <p:restoredTop sz="94694" autoAdjust="0"/>
  </p:normalViewPr>
  <p:slideViewPr>
    <p:cSldViewPr snapToGrid="0">
      <p:cViewPr varScale="1">
        <p:scale>
          <a:sx n="82" d="100"/>
          <a:sy n="82" d="100"/>
        </p:scale>
        <p:origin x="629" y="72"/>
      </p:cViewPr>
      <p:guideLst/>
    </p:cSldViewPr>
  </p:slideViewPr>
  <p:outlineViewPr>
    <p:cViewPr>
      <p:scale>
        <a:sx n="33" d="100"/>
        <a:sy n="33" d="100"/>
      </p:scale>
      <p:origin x="0" y="-374"/>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8/30/2025</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8/30/2025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a:t>
            </a:fld>
            <a:endParaRPr lang="en-US" dirty="0"/>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a:t>
            </a:fld>
            <a:endParaRPr lang="en-US" dirty="0"/>
          </a:p>
        </p:txBody>
      </p:sp>
    </p:spTree>
    <p:extLst>
      <p:ext uri="{BB962C8B-B14F-4D97-AF65-F5344CB8AC3E}">
        <p14:creationId xmlns:p14="http://schemas.microsoft.com/office/powerpoint/2010/main" val="1951919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C6A29-4676-420C-BBE3-ACC2B80F64D4}" type="slidenum">
              <a:rPr lang="en-US" smtClean="0"/>
              <a:t>3</a:t>
            </a:fld>
            <a:endParaRPr lang="en-US" dirty="0"/>
          </a:p>
        </p:txBody>
      </p:sp>
    </p:spTree>
    <p:extLst>
      <p:ext uri="{BB962C8B-B14F-4D97-AF65-F5344CB8AC3E}">
        <p14:creationId xmlns:p14="http://schemas.microsoft.com/office/powerpoint/2010/main" val="2439709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4</a:t>
            </a:fld>
            <a:endParaRPr lang="en-US" dirty="0"/>
          </a:p>
        </p:txBody>
      </p:sp>
    </p:spTree>
    <p:extLst>
      <p:ext uri="{BB962C8B-B14F-4D97-AF65-F5344CB8AC3E}">
        <p14:creationId xmlns:p14="http://schemas.microsoft.com/office/powerpoint/2010/main" val="202840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5</a:t>
            </a:fld>
            <a:endParaRPr lang="en-US" dirty="0"/>
          </a:p>
        </p:txBody>
      </p:sp>
    </p:spTree>
    <p:extLst>
      <p:ext uri="{BB962C8B-B14F-4D97-AF65-F5344CB8AC3E}">
        <p14:creationId xmlns:p14="http://schemas.microsoft.com/office/powerpoint/2010/main" val="922949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6</a:t>
            </a:fld>
            <a:endParaRPr lang="en-US" dirty="0"/>
          </a:p>
        </p:txBody>
      </p:sp>
    </p:spTree>
    <p:extLst>
      <p:ext uri="{BB962C8B-B14F-4D97-AF65-F5344CB8AC3E}">
        <p14:creationId xmlns:p14="http://schemas.microsoft.com/office/powerpoint/2010/main" val="1721109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7</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8</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9</a:t>
            </a:fld>
            <a:endParaRPr lang="en-US" dirty="0"/>
          </a:p>
        </p:txBody>
      </p:sp>
    </p:spTree>
    <p:extLst>
      <p:ext uri="{BB962C8B-B14F-4D97-AF65-F5344CB8AC3E}">
        <p14:creationId xmlns:p14="http://schemas.microsoft.com/office/powerpoint/2010/main" val="2400632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10</a:t>
            </a:fld>
            <a:endParaRPr lang="en-US" dirty="0"/>
          </a:p>
        </p:txBody>
      </p:sp>
    </p:spTree>
    <p:extLst>
      <p:ext uri="{BB962C8B-B14F-4D97-AF65-F5344CB8AC3E}">
        <p14:creationId xmlns:p14="http://schemas.microsoft.com/office/powerpoint/2010/main" val="2846461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11</a:t>
            </a:fld>
            <a:endParaRPr lang="en-US" dirty="0"/>
          </a:p>
        </p:txBody>
      </p:sp>
    </p:spTree>
    <p:extLst>
      <p:ext uri="{BB962C8B-B14F-4D97-AF65-F5344CB8AC3E}">
        <p14:creationId xmlns:p14="http://schemas.microsoft.com/office/powerpoint/2010/main" val="3705848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12</a:t>
            </a:fld>
            <a:endParaRPr lang="en-US" dirty="0"/>
          </a:p>
        </p:txBody>
      </p:sp>
    </p:spTree>
    <p:extLst>
      <p:ext uri="{BB962C8B-B14F-4D97-AF65-F5344CB8AC3E}">
        <p14:creationId xmlns:p14="http://schemas.microsoft.com/office/powerpoint/2010/main" val="2799704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13</a:t>
            </a:fld>
            <a:endParaRPr lang="en-US" dirty="0"/>
          </a:p>
        </p:txBody>
      </p:sp>
    </p:spTree>
    <p:extLst>
      <p:ext uri="{BB962C8B-B14F-4D97-AF65-F5344CB8AC3E}">
        <p14:creationId xmlns:p14="http://schemas.microsoft.com/office/powerpoint/2010/main" val="1029327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14</a:t>
            </a:fld>
            <a:endParaRPr lang="en-US" dirty="0"/>
          </a:p>
        </p:txBody>
      </p:sp>
    </p:spTree>
    <p:extLst>
      <p:ext uri="{BB962C8B-B14F-4D97-AF65-F5344CB8AC3E}">
        <p14:creationId xmlns:p14="http://schemas.microsoft.com/office/powerpoint/2010/main" val="3860110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15</a:t>
            </a:fld>
            <a:endParaRPr lang="en-US" dirty="0"/>
          </a:p>
        </p:txBody>
      </p:sp>
    </p:spTree>
    <p:extLst>
      <p:ext uri="{BB962C8B-B14F-4D97-AF65-F5344CB8AC3E}">
        <p14:creationId xmlns:p14="http://schemas.microsoft.com/office/powerpoint/2010/main" val="3573701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16</a:t>
            </a:fld>
            <a:endParaRPr lang="en-US" dirty="0"/>
          </a:p>
        </p:txBody>
      </p:sp>
    </p:spTree>
    <p:extLst>
      <p:ext uri="{BB962C8B-B14F-4D97-AF65-F5344CB8AC3E}">
        <p14:creationId xmlns:p14="http://schemas.microsoft.com/office/powerpoint/2010/main" val="4151229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0"/>
            <a:ext cx="12192000" cy="8286859"/>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anchor="b" anchorCtr="0">
            <a:noAutofit/>
          </a:bodyPr>
          <a:lstStyle>
            <a:lvl1pPr algn="r">
              <a:defRPr sz="44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489189" y="941148"/>
            <a:ext cx="11182430" cy="4797821"/>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a:noAutofit/>
          </a:bodyPr>
          <a:lstStyle>
            <a:lvl1pPr algn="ctr">
              <a:defRPr>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a:normAutofit/>
          </a:bodyPr>
          <a:lstStyle>
            <a:lvl1pPr algn="ctr">
              <a:defRPr sz="6000"/>
            </a:lvl1pPr>
          </a:lstStyle>
          <a:p>
            <a:r>
              <a:rPr lang="en-US" dirty="0"/>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CB8A6E1-44B2-54E1-6460-1C9B27EE75FD}"/>
              </a:ext>
              <a:ext uri="{C183D7F6-B498-43B3-948B-1728B52AA6E4}">
                <adec:decorative xmlns:adec="http://schemas.microsoft.com/office/drawing/2017/decorative" val="1"/>
              </a:ext>
            </a:extLst>
          </p:cNvPr>
          <p:cNvGrpSpPr/>
          <p:nvPr userDrawn="1"/>
        </p:nvGrpSpPr>
        <p:grpSpPr>
          <a:xfrm>
            <a:off x="0" y="0"/>
            <a:ext cx="5698912" cy="6858001"/>
            <a:chOff x="0" y="-1"/>
            <a:chExt cx="5698912" cy="6858001"/>
          </a:xfrm>
        </p:grpSpPr>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7" name="Title 1">
            <a:extLst>
              <a:ext uri="{FF2B5EF4-FFF2-40B4-BE49-F238E27FC236}">
                <a16:creationId xmlns:a16="http://schemas.microsoft.com/office/drawing/2014/main" id="{4F9EBE3B-A856-C23C-4698-B764DF4BC70D}"/>
              </a:ext>
            </a:extLst>
          </p:cNvPr>
          <p:cNvSpPr>
            <a:spLocks noGrp="1"/>
          </p:cNvSpPr>
          <p:nvPr>
            <p:ph type="title" hasCustomPrompt="1"/>
          </p:nvPr>
        </p:nvSpPr>
        <p:spPr>
          <a:xfrm>
            <a:off x="6222118" y="262762"/>
            <a:ext cx="5507421" cy="3649718"/>
          </a:xfrm>
        </p:spPr>
        <p:txBody>
          <a:bodyPr anchor="b">
            <a:normAutofit/>
          </a:bodyPr>
          <a:lstStyle>
            <a:lvl1pPr>
              <a:defRPr sz="6000"/>
            </a:lvl1pPr>
          </a:lstStyle>
          <a:p>
            <a:r>
              <a:rPr lang="en-US" dirty="0"/>
              <a:t>Click to add title</a:t>
            </a:r>
          </a:p>
        </p:txBody>
      </p:sp>
      <p:sp>
        <p:nvSpPr>
          <p:cNvPr id="8" name="Picture Placeholder 7">
            <a:extLst>
              <a:ext uri="{FF2B5EF4-FFF2-40B4-BE49-F238E27FC236}">
                <a16:creationId xmlns:a16="http://schemas.microsoft.com/office/drawing/2014/main" id="{74C9CB37-5251-201C-ACE3-FD69A00C772E}"/>
              </a:ext>
            </a:extLst>
          </p:cNvPr>
          <p:cNvSpPr>
            <a:spLocks noGrp="1"/>
          </p:cNvSpPr>
          <p:nvPr>
            <p:ph type="pic" sz="quarter" idx="14"/>
          </p:nvPr>
        </p:nvSpPr>
        <p:spPr>
          <a:xfrm>
            <a:off x="707393" y="847600"/>
            <a:ext cx="4619625" cy="4617720"/>
          </a:xfrm>
          <a:prstGeom prst="ellipse">
            <a:avLst/>
          </a:prstGeom>
          <a:noFill/>
        </p:spPr>
        <p:txBody>
          <a:bodyPr tIns="548640">
            <a:normAutofit/>
          </a:bodyPr>
          <a:lstStyle>
            <a:lvl1pPr marL="0" indent="0" algn="ctr">
              <a:buNone/>
              <a:defRPr sz="2000"/>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EBF08299-9068-827D-783B-BFF5B95E9574}"/>
              </a:ext>
            </a:extLst>
          </p:cNvPr>
          <p:cNvSpPr>
            <a:spLocks noGrp="1"/>
          </p:cNvSpPr>
          <p:nvPr>
            <p:ph idx="1" hasCustomPrompt="1"/>
          </p:nvPr>
        </p:nvSpPr>
        <p:spPr>
          <a:xfrm>
            <a:off x="6222118" y="4058263"/>
            <a:ext cx="5507421" cy="2141482"/>
          </a:xfrm>
        </p:spPr>
        <p:txBody>
          <a:bodyPr>
            <a:normAutofit/>
          </a:bodyPr>
          <a:lstStyle>
            <a:lvl1pPr marL="0" indent="0">
              <a:lnSpc>
                <a:spcPct val="90000"/>
              </a:lnSpc>
              <a:buFont typeface="Arial" panose="020B0604020202020204" pitchFamily="34" charset="0"/>
              <a:buNone/>
              <a:defRPr sz="2400"/>
            </a:lvl1pPr>
            <a:lvl2pPr marL="228600">
              <a:lnSpc>
                <a:spcPct val="90000"/>
              </a:lnSpc>
              <a:buClr>
                <a:schemeClr val="accent2"/>
              </a:buClr>
              <a:defRPr sz="2000"/>
            </a:lvl2pPr>
            <a:lvl3pPr marL="457200">
              <a:lnSpc>
                <a:spcPct val="90000"/>
              </a:lnSpc>
              <a:buClr>
                <a:schemeClr val="accent2"/>
              </a:buClr>
              <a:defRPr sz="1800"/>
            </a:lvl3pPr>
            <a:lvl4pPr marL="685800">
              <a:lnSpc>
                <a:spcPct val="90000"/>
              </a:lnSpc>
              <a:buClr>
                <a:schemeClr val="accent2"/>
              </a:buClr>
              <a:defRPr sz="1600"/>
            </a:lvl4pPr>
            <a:lvl5pPr>
              <a:lnSpc>
                <a:spcPct val="110000"/>
              </a:lnSpc>
              <a:defRPr/>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dirty="0">
                <a:solidFill>
                  <a:prstClr val="black">
                    <a:tint val="75000"/>
                  </a:prstClr>
                </a:solidFill>
              </a:rPr>
              <a:t>9/3/20XX</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en-US" dirty="0">
                <a:solidFill>
                  <a:prstClr val="black">
                    <a:tint val="75000"/>
                  </a:prstClr>
                </a:solidFill>
              </a:rPr>
              <a:t>Pitch deck</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1517468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anchor="ctr" anchorCtr="0">
            <a:noAutofit/>
          </a:bodyPr>
          <a:lstStyle/>
          <a:p>
            <a:r>
              <a:rPr lang="en-US" dirty="0"/>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a:normAutofit/>
          </a:bodyPr>
          <a:lstStyle>
            <a:lvl1pPr>
              <a:lnSpc>
                <a:spcPct val="90000"/>
              </a:lnSpc>
              <a:spcBef>
                <a:spcPts val="1000"/>
              </a:spcBef>
              <a:spcAft>
                <a:spcPts val="800"/>
              </a:spcAft>
              <a:buClr>
                <a:schemeClr val="accent2"/>
              </a:buClr>
              <a:defRPr sz="1800"/>
            </a:lvl1pPr>
            <a:lvl2pPr>
              <a:lnSpc>
                <a:spcPct val="90000"/>
              </a:lnSpc>
              <a:spcBef>
                <a:spcPts val="1000"/>
              </a:spcBef>
              <a:spcAft>
                <a:spcPts val="800"/>
              </a:spcAft>
              <a:buClr>
                <a:schemeClr val="accent2"/>
              </a:buClr>
              <a:defRPr sz="1600"/>
            </a:lvl2pPr>
            <a:lvl3pPr>
              <a:lnSpc>
                <a:spcPct val="90000"/>
              </a:lnSpc>
              <a:spcBef>
                <a:spcPts val="1000"/>
              </a:spcBef>
              <a:spcAft>
                <a:spcPts val="800"/>
              </a:spcAft>
              <a:buClr>
                <a:schemeClr val="accent2"/>
              </a:buClr>
              <a:defRPr sz="1400"/>
            </a:lvl3pPr>
            <a:lvl4pPr>
              <a:lnSpc>
                <a:spcPct val="90000"/>
              </a:lnSpc>
              <a:spcBef>
                <a:spcPts val="1000"/>
              </a:spcBef>
              <a:spcAft>
                <a:spcPts val="800"/>
              </a:spcAft>
              <a:buClr>
                <a:schemeClr val="accent2"/>
              </a:buClr>
              <a:defRPr sz="1200"/>
            </a:lvl4pPr>
            <a:lvl5pPr>
              <a:lnSpc>
                <a:spcPct val="90000"/>
              </a:lnSpc>
              <a:spcBef>
                <a:spcPts val="1000"/>
              </a:spcBef>
              <a:spcAft>
                <a:spcPts val="800"/>
              </a:spcAft>
              <a:buClr>
                <a:schemeClr val="accent2"/>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577652" y="0"/>
            <a:ext cx="8798419" cy="6816262"/>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anchor="ctr">
            <a:noAutofit/>
          </a:bodyP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123536" y="2"/>
            <a:ext cx="12068464" cy="6857998"/>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dirty="0"/>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a:normAutofit/>
          </a:bodyPr>
          <a:lstStyle>
            <a:lvl1pPr marL="228600" indent="-228600">
              <a:spcBef>
                <a:spcPts val="1000"/>
              </a:spcBef>
              <a:spcAft>
                <a:spcPts val="800"/>
              </a:spcAft>
              <a:buClr>
                <a:schemeClr val="accent2"/>
              </a:buClr>
              <a:buFont typeface="Arial" panose="020B0604020202020204" pitchFamily="34" charset="0"/>
              <a:buChar char="•"/>
              <a:defRPr sz="1800"/>
            </a:lvl1pPr>
            <a:lvl2pPr marL="285750" indent="-285750">
              <a:spcBef>
                <a:spcPts val="1000"/>
              </a:spcBef>
              <a:spcAft>
                <a:spcPts val="800"/>
              </a:spcAft>
              <a:buClr>
                <a:schemeClr val="accent2"/>
              </a:buClr>
              <a:buFont typeface="Arial" panose="020B0604020202020204" pitchFamily="34" charset="0"/>
              <a:buChar char="•"/>
              <a:defRPr sz="1800"/>
            </a:lvl2pPr>
            <a:lvl3pPr marL="651510" indent="-285750">
              <a:spcBef>
                <a:spcPts val="1000"/>
              </a:spcBef>
              <a:spcAft>
                <a:spcPts val="800"/>
              </a:spcAft>
              <a:buClr>
                <a:schemeClr val="accent2"/>
              </a:buClr>
              <a:buFont typeface="Arial" panose="020B0604020202020204" pitchFamily="34" charset="0"/>
              <a:buChar char="•"/>
              <a:defRPr sz="1800"/>
            </a:lvl3pPr>
            <a:lvl4pPr marL="925830" indent="-285750">
              <a:spcBef>
                <a:spcPts val="1000"/>
              </a:spcBef>
              <a:spcAft>
                <a:spcPts val="800"/>
              </a:spcAft>
              <a:buClr>
                <a:schemeClr val="accent2"/>
              </a:buClr>
              <a:buFont typeface="Arial" panose="020B0604020202020204" pitchFamily="34" charset="0"/>
              <a:buChar char="•"/>
              <a:defRPr sz="1800"/>
            </a:lvl4pPr>
            <a:lvl5pPr marL="1200150" indent="-28575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a:normAutofit/>
          </a:bodyPr>
          <a:lstStyle>
            <a:lvl1pPr marL="0" indent="0">
              <a:spcBef>
                <a:spcPts val="1000"/>
              </a:spcBef>
              <a:spcAft>
                <a:spcPts val="800"/>
              </a:spcAft>
              <a:buNone/>
              <a:defRPr sz="1800"/>
            </a:lvl1pPr>
            <a:lvl2pPr marL="228600" indent="-228600">
              <a:spcBef>
                <a:spcPts val="1000"/>
              </a:spcBef>
              <a:spcAft>
                <a:spcPts val="800"/>
              </a:spcAft>
              <a:buClr>
                <a:schemeClr val="accent2"/>
              </a:buClr>
              <a:buFont typeface="Arial" panose="020B0604020202020204" pitchFamily="34" charset="0"/>
              <a:buChar char="•"/>
              <a:defRPr sz="1800"/>
            </a:lvl2pPr>
            <a:lvl3pPr marL="594360" indent="-228600">
              <a:spcBef>
                <a:spcPts val="1000"/>
              </a:spcBef>
              <a:spcAft>
                <a:spcPts val="800"/>
              </a:spcAft>
              <a:buClr>
                <a:schemeClr val="accent2"/>
              </a:buClr>
              <a:buFont typeface="Arial" panose="020B0604020202020204" pitchFamily="34" charset="0"/>
              <a:buChar char="•"/>
              <a:defRPr sz="1800"/>
            </a:lvl3pPr>
            <a:lvl4pPr marL="868680" indent="-228600">
              <a:spcBef>
                <a:spcPts val="1000"/>
              </a:spcBef>
              <a:spcAft>
                <a:spcPts val="800"/>
              </a:spcAft>
              <a:buClr>
                <a:schemeClr val="accent2"/>
              </a:buClr>
              <a:buFont typeface="Arial" panose="020B0604020202020204" pitchFamily="34" charset="0"/>
              <a:buChar char="•"/>
              <a:defRPr sz="1800"/>
            </a:lvl4pPr>
            <a:lvl5pPr marL="1143000" indent="-22860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7458"/>
            <a:ext cx="7083733" cy="618220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anchor="b" anchorCtr="0">
            <a:noAutofit/>
          </a:bodyPr>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413114" y="845068"/>
            <a:ext cx="5193792" cy="5193792"/>
          </a:xfrm>
          <a:prstGeom prst="ellipse">
            <a:avLst/>
          </a:prstGeom>
        </p:spPr>
        <p:txBody>
          <a:bodyPr/>
          <a:lstStyle>
            <a:lvl1pPr marL="0" indent="0" algn="ctr">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123536" y="2"/>
            <a:ext cx="11220225" cy="6857998"/>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038599" y="1825625"/>
            <a:ext cx="7315199" cy="4297680"/>
          </a:xfrm>
        </p:spPr>
        <p:txBody>
          <a:bodyPr>
            <a:normAutofit/>
          </a:bodyPr>
          <a:lstStyle>
            <a:lvl1pPr marL="0" indent="0">
              <a:buNone/>
              <a:defRPr sz="2400"/>
            </a:lvl1p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sz="1800"/>
            </a:lvl1pPr>
            <a:lvl2pPr>
              <a:spcBef>
                <a:spcPts val="500"/>
              </a:spcBef>
              <a:spcAft>
                <a:spcPts val="800"/>
              </a:spcAft>
              <a:buClr>
                <a:schemeClr val="accent2"/>
              </a:buClr>
              <a:defRPr sz="1800"/>
            </a:lvl2pPr>
            <a:lvl3pPr>
              <a:spcBef>
                <a:spcPts val="1000"/>
              </a:spcBef>
              <a:buClr>
                <a:schemeClr val="accent2"/>
              </a:buClr>
              <a:defRPr sz="1800"/>
            </a:lvl3pPr>
            <a:lvl4pPr>
              <a:spcBef>
                <a:spcPts val="1000"/>
              </a:spcBef>
              <a:buClr>
                <a:schemeClr val="accent2"/>
              </a:buClr>
              <a:defRPr sz="1800"/>
            </a:lvl4pPr>
            <a:lvl5pPr>
              <a:spcBef>
                <a:spcPts val="1000"/>
              </a:spcBef>
              <a:buClr>
                <a:schemeClr val="accent2"/>
              </a:buCl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a:normAutofit/>
          </a:bodyPr>
          <a:lstStyle>
            <a:lvl1pPr>
              <a:defRPr sz="2400"/>
            </a:lvl1pPr>
          </a:lstStyle>
          <a:p>
            <a:r>
              <a:rPr lang="en-US"/>
              <a:t>Click icon to add table</a:t>
            </a:r>
            <a:endParaRPr lang="en-US"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5930138" cy="68580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a:noAutofit/>
          </a:bodyPr>
          <a:lstStyle>
            <a:lvl1pPr algn="ctr">
              <a:defRPr sz="44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8/30/2025</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8/30/2025</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67" r:id="rId4"/>
    <p:sldLayoutId id="2147483650" r:id="rId5"/>
    <p:sldLayoutId id="2147483649" r:id="rId6"/>
    <p:sldLayoutId id="2147483662" r:id="rId7"/>
    <p:sldLayoutId id="2147483663" r:id="rId8"/>
    <p:sldLayoutId id="2147483652" r:id="rId9"/>
    <p:sldLayoutId id="2147483666" r:id="rId10"/>
    <p:sldLayoutId id="2147483664" r:id="rId11"/>
    <p:sldLayoutId id="2147483665"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google.com/search?sa=X&amp;sca_esv=25a1bca217f7fe01&amp;rlz=1C1GCEB_enIN1169IN1169&amp;biw=1536&amp;bih=730&amp;sxsrf=AE3TifMllAQU5il-jhQtpuh0i8fBAGiNJg%3A1756491841479&amp;q=microservices&amp;ved=2ahUKEwiJq4yC0rCPAxVgS2cHHXlwCyYQxccNegQIIBAB&amp;mstk=AUtExfD7vDMcIX_dvzq4bxpAY2SRt5DhPMFlPt-zBRELpUVQyPO1p74oG8FOxMo4mFYkbt88t4UAJKnHQofeQVh4ioxIZC5YQiJsV4lNrVzqdCiEr8dYv_km704U8rwMqriUDaOm_HianFqFw_qSjAFxmsvCstT_15yxSZYcvPdnD7LszIFcV2HyZCjtKCU0Gl_1MtFFvndCOAq6Ra-rpLvjE1U2cORpWgvXNC6y2RRam0NeO0OfFP6qCTGoS7pfdcND3nhXF8rlyNMXcAT999MvQAHoKPAhoJNh9-jIK-2xPXv3oA&amp;csui=3"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hyperlink" Target="https://www.google.com/search?sa=X&amp;sca_esv=25a1bca217f7fe01&amp;rlz=1C1GCEB_enIN1169IN1169&amp;biw=1536&amp;bih=730&amp;sxsrf=AE3TifMllAQU5il-jhQtpuh0i8fBAGiNJg%3A1756491841479&amp;q=cloud-native&amp;ved=2ahUKEwiJq4yC0rCPAxVgS2cHHXlwCyYQxccNegQIIBAC&amp;mstk=AUtExfD7vDMcIX_dvzq4bxpAY2SRt5DhPMFlPt-zBRELpUVQyPO1p74oG8FOxMo4mFYkbt88t4UAJKnHQofeQVh4ioxIZC5YQiJsV4lNrVzqdCiEr8dYv_km704U8rwMqriUDaOm_HianFqFw_qSjAFxmsvCstT_15yxSZYcvPdnD7LszIFcV2HyZCjtKCU0Gl_1MtFFvndCOAq6Ra-rpLvjE1U2cORpWgvXNC6y2RRam0NeO0OfFP6qCTGoS7pfdcND3nhXF8rlyNMXcAT999MvQAHoKPAhoJNh9-jIK-2xPXv3oA&amp;csui=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5371085" y="2828441"/>
            <a:ext cx="6261291" cy="2396686"/>
          </a:xfrm>
          <a:noFill/>
        </p:spPr>
        <p:txBody>
          <a:bodyPr anchor="b">
            <a:noAutofit/>
          </a:bodyPr>
          <a:lstStyle/>
          <a:p>
            <a:r>
              <a:rPr lang="en-US" sz="2800" b="1" dirty="0">
                <a:solidFill>
                  <a:schemeClr val="tx1"/>
                </a:solidFill>
              </a:rPr>
              <a:t>Container Orchestration with Kubernetes</a:t>
            </a:r>
            <a:br>
              <a:rPr lang="en-US" sz="2800" b="1" dirty="0">
                <a:solidFill>
                  <a:schemeClr val="tx1"/>
                </a:solidFill>
              </a:rPr>
            </a:br>
            <a:r>
              <a:rPr lang="en-US" sz="2800" b="1" dirty="0">
                <a:solidFill>
                  <a:schemeClr val="tx1"/>
                </a:solidFill>
              </a:rPr>
              <a:t>	</a:t>
            </a:r>
          </a:p>
        </p:txBody>
      </p:sp>
      <p:sp>
        <p:nvSpPr>
          <p:cNvPr id="2" name="TextBox 1">
            <a:extLst>
              <a:ext uri="{FF2B5EF4-FFF2-40B4-BE49-F238E27FC236}">
                <a16:creationId xmlns:a16="http://schemas.microsoft.com/office/drawing/2014/main" id="{24E8EDA0-50BA-48F7-874C-0F0636E420FB}"/>
              </a:ext>
            </a:extLst>
          </p:cNvPr>
          <p:cNvSpPr txBox="1"/>
          <p:nvPr/>
        </p:nvSpPr>
        <p:spPr>
          <a:xfrm flipH="1">
            <a:off x="9103614" y="5440101"/>
            <a:ext cx="2622700" cy="369332"/>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4DFEDDD8-E307-481C-AA66-03DC2D0373E7}"/>
              </a:ext>
            </a:extLst>
          </p:cNvPr>
          <p:cNvSpPr txBox="1"/>
          <p:nvPr/>
        </p:nvSpPr>
        <p:spPr>
          <a:xfrm>
            <a:off x="8714792" y="5084697"/>
            <a:ext cx="2724539" cy="923330"/>
          </a:xfrm>
          <a:prstGeom prst="rect">
            <a:avLst/>
          </a:prstGeom>
          <a:noFill/>
        </p:spPr>
        <p:txBody>
          <a:bodyPr wrap="square" rtlCol="0">
            <a:spAutoFit/>
          </a:bodyPr>
          <a:lstStyle/>
          <a:p>
            <a:r>
              <a:rPr lang="en-US" dirty="0"/>
              <a:t>Srinivas Lingampelli</a:t>
            </a:r>
          </a:p>
          <a:p>
            <a:r>
              <a:rPr lang="en-US" dirty="0" err="1"/>
              <a:t>RollNo</a:t>
            </a:r>
            <a:r>
              <a:rPr lang="en-US" dirty="0"/>
              <a:t> : 23BD5A0504</a:t>
            </a:r>
          </a:p>
          <a:p>
            <a:r>
              <a:rPr lang="en-US" dirty="0"/>
              <a:t>CSE - A</a:t>
            </a:r>
          </a:p>
        </p:txBody>
      </p:sp>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609957" y="1119031"/>
            <a:ext cx="4384736" cy="4619938"/>
          </a:xfrm>
          <a:noFill/>
        </p:spPr>
        <p:txBody>
          <a:bodyPr>
            <a:noAutofit/>
          </a:bodyPr>
          <a:lstStyle/>
          <a:p>
            <a:r>
              <a:rPr lang="en-US" dirty="0"/>
              <a:t>Agenda</a:t>
            </a:r>
          </a:p>
        </p:txBody>
      </p:sp>
      <p:sp>
        <p:nvSpPr>
          <p:cNvPr id="4" name="Rectangle 1">
            <a:extLst>
              <a:ext uri="{FF2B5EF4-FFF2-40B4-BE49-F238E27FC236}">
                <a16:creationId xmlns:a16="http://schemas.microsoft.com/office/drawing/2014/main" id="{4F23A83F-D5F9-4E8C-9C69-75EC7B1B81C0}"/>
              </a:ext>
            </a:extLst>
          </p:cNvPr>
          <p:cNvSpPr>
            <a:spLocks noGrp="1" noChangeArrowheads="1"/>
          </p:cNvSpPr>
          <p:nvPr>
            <p:ph idx="1"/>
          </p:nvPr>
        </p:nvSpPr>
        <p:spPr bwMode="auto">
          <a:xfrm>
            <a:off x="5195823" y="2058554"/>
            <a:ext cx="691531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Introduction to Traditional Application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Problems with Monolithic Deployments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Introduction to Docker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What Are Containers?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Need for Container Orchestration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Introduction to Kubernetes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Kubernetes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Kubernetes Key Concepts (Pods, Services, Ingress,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Advantages &amp; Limitations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 Cases &amp; Industry Adoption</a:t>
            </a:r>
          </a:p>
        </p:txBody>
      </p:sp>
    </p:spTree>
    <p:extLst>
      <p:ext uri="{BB962C8B-B14F-4D97-AF65-F5344CB8AC3E}">
        <p14:creationId xmlns:p14="http://schemas.microsoft.com/office/powerpoint/2010/main" val="392072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2301D21-45D5-4455-9368-CCC5947EEA96}"/>
              </a:ext>
            </a:extLst>
          </p:cNvPr>
          <p:cNvSpPr>
            <a:spLocks noGrp="1"/>
          </p:cNvSpPr>
          <p:nvPr>
            <p:ph type="title"/>
          </p:nvPr>
        </p:nvSpPr>
        <p:spPr>
          <a:xfrm>
            <a:off x="838200" y="365125"/>
            <a:ext cx="10515600" cy="1325563"/>
          </a:xfrm>
        </p:spPr>
        <p:txBody>
          <a:bodyPr anchor="ctr">
            <a:normAutofit/>
          </a:bodyPr>
          <a:lstStyle/>
          <a:p>
            <a:r>
              <a:rPr lang="en-US" b="1"/>
              <a:t>Traditional Application Deployment</a:t>
            </a:r>
          </a:p>
        </p:txBody>
      </p:sp>
      <p:sp>
        <p:nvSpPr>
          <p:cNvPr id="9" name="Content Placeholder 8">
            <a:extLst>
              <a:ext uri="{FF2B5EF4-FFF2-40B4-BE49-F238E27FC236}">
                <a16:creationId xmlns:a16="http://schemas.microsoft.com/office/drawing/2014/main" id="{17321E32-4F35-4AE9-9005-22B918254239}"/>
              </a:ext>
            </a:extLst>
          </p:cNvPr>
          <p:cNvSpPr>
            <a:spLocks noGrp="1"/>
          </p:cNvSpPr>
          <p:nvPr>
            <p:ph sz="half" idx="1"/>
          </p:nvPr>
        </p:nvSpPr>
        <p:spPr>
          <a:xfrm>
            <a:off x="838200" y="1825625"/>
            <a:ext cx="4915163" cy="4297680"/>
          </a:xfrm>
        </p:spPr>
        <p:txBody>
          <a:bodyPr>
            <a:normAutofit/>
          </a:bodyPr>
          <a:lstStyle/>
          <a:p>
            <a:r>
              <a:rPr lang="en-US" sz="1700" b="1" i="0">
                <a:effectLst/>
              </a:rPr>
              <a:t>Monolithic architecture </a:t>
            </a:r>
            <a:r>
              <a:rPr lang="en-US" sz="1700" b="0" i="0">
                <a:effectLst/>
              </a:rPr>
              <a:t>is </a:t>
            </a:r>
            <a:r>
              <a:rPr lang="en-US" sz="1700"/>
              <a:t>a software design where an entire application is built as a single, unified unit with a single codebase, deployed as one large artifact</a:t>
            </a:r>
          </a:p>
          <a:p>
            <a:endParaRPr lang="en-US" sz="1700"/>
          </a:p>
          <a:p>
            <a:pPr marL="0" marR="0" lvl="0" indent="0" defTabSz="914400" rtl="0" eaLnBrk="0" fontAlgn="base" latinLnBrk="0" hangingPunct="0">
              <a:spcBef>
                <a:spcPct val="0"/>
              </a:spcBef>
              <a:spcAft>
                <a:spcPct val="0"/>
              </a:spcAft>
              <a:buClrTx/>
              <a:buSzTx/>
              <a:buFontTx/>
              <a:buChar char="•"/>
              <a:tabLst/>
            </a:pPr>
            <a:r>
              <a:rPr kumimoji="0" lang="en-US" altLang="en-US" sz="1700" b="1" i="0" u="none" strike="noStrike" cap="none" normalizeH="0" baseline="0">
                <a:ln>
                  <a:noFill/>
                </a:ln>
                <a:effectLst/>
              </a:rPr>
              <a:t>On-Premise Monolithic Apps</a:t>
            </a:r>
            <a:endParaRPr kumimoji="0" lang="en-US" altLang="en-US" sz="1700" b="0" i="0" u="none" strike="noStrike" cap="none" normalizeH="0" baseline="0">
              <a:ln>
                <a:noFill/>
              </a:ln>
              <a:effectLst/>
            </a:endParaRPr>
          </a:p>
          <a:p>
            <a:pPr lvl="3" indent="0" eaLnBrk="0" fontAlgn="base" hangingPunct="0">
              <a:spcBef>
                <a:spcPct val="0"/>
              </a:spcBef>
              <a:spcAft>
                <a:spcPct val="0"/>
              </a:spcAft>
              <a:buClrTx/>
              <a:buFontTx/>
              <a:buChar char="•"/>
            </a:pPr>
            <a:r>
              <a:rPr kumimoji="0" lang="en-US" altLang="en-US" sz="1700" b="0" i="0" u="none" strike="noStrike" cap="none" normalizeH="0" baseline="0">
                <a:ln>
                  <a:noFill/>
                </a:ln>
                <a:effectLst/>
              </a:rPr>
              <a:t>Apps bundled into a single package</a:t>
            </a:r>
          </a:p>
          <a:p>
            <a:pPr lvl="3" indent="0" eaLnBrk="0" fontAlgn="base" hangingPunct="0">
              <a:spcBef>
                <a:spcPct val="0"/>
              </a:spcBef>
              <a:spcAft>
                <a:spcPct val="0"/>
              </a:spcAft>
              <a:buClrTx/>
              <a:buFontTx/>
              <a:buChar char="•"/>
            </a:pPr>
            <a:r>
              <a:rPr kumimoji="0" lang="en-US" altLang="en-US" sz="1700" b="0" i="0" u="none" strike="noStrike" cap="none" normalizeH="0" baseline="0">
                <a:ln>
                  <a:noFill/>
                </a:ln>
                <a:effectLst/>
              </a:rPr>
              <a:t>Deployed on physical servers or VMs</a:t>
            </a:r>
          </a:p>
          <a:p>
            <a:pPr marL="0" marR="0" lvl="0" indent="0" defTabSz="914400" rtl="0" eaLnBrk="0" fontAlgn="base" latinLnBrk="0" hangingPunct="0">
              <a:spcBef>
                <a:spcPct val="0"/>
              </a:spcBef>
              <a:spcAft>
                <a:spcPct val="0"/>
              </a:spcAft>
              <a:buClrTx/>
              <a:buSzTx/>
              <a:buFontTx/>
              <a:buChar char="•"/>
              <a:tabLst/>
            </a:pPr>
            <a:r>
              <a:rPr kumimoji="0" lang="en-US" altLang="en-US" sz="1700" b="1" i="0" u="none" strike="noStrike" cap="none" normalizeH="0" baseline="0">
                <a:ln>
                  <a:noFill/>
                </a:ln>
                <a:effectLst/>
              </a:rPr>
              <a:t>Problems:</a:t>
            </a:r>
            <a:endParaRPr kumimoji="0" lang="en-US" altLang="en-US" sz="1700" b="0" i="0" u="none" strike="noStrike" cap="none" normalizeH="0" baseline="0">
              <a:ln>
                <a:noFill/>
              </a:ln>
              <a:effectLst/>
            </a:endParaRPr>
          </a:p>
          <a:p>
            <a:pPr lvl="3" indent="0" eaLnBrk="0" fontAlgn="base" hangingPunct="0">
              <a:spcBef>
                <a:spcPct val="0"/>
              </a:spcBef>
              <a:spcAft>
                <a:spcPct val="0"/>
              </a:spcAft>
              <a:buClrTx/>
              <a:buFontTx/>
              <a:buChar char="•"/>
            </a:pPr>
            <a:r>
              <a:rPr kumimoji="0" lang="en-US" altLang="en-US" sz="1700" b="0" i="0" u="none" strike="noStrike" cap="none" normalizeH="0" baseline="0">
                <a:ln>
                  <a:noFill/>
                </a:ln>
                <a:effectLst/>
              </a:rPr>
              <a:t>High resource usage</a:t>
            </a:r>
          </a:p>
          <a:p>
            <a:pPr lvl="3" indent="0" eaLnBrk="0" fontAlgn="base" hangingPunct="0">
              <a:spcBef>
                <a:spcPct val="0"/>
              </a:spcBef>
              <a:spcAft>
                <a:spcPct val="0"/>
              </a:spcAft>
              <a:buClrTx/>
              <a:buFontTx/>
              <a:buChar char="•"/>
            </a:pPr>
            <a:r>
              <a:rPr kumimoji="0" lang="en-US" altLang="en-US" sz="1700" b="0" i="0" u="none" strike="noStrike" cap="none" normalizeH="0" baseline="0">
                <a:ln>
                  <a:noFill/>
                </a:ln>
                <a:effectLst/>
              </a:rPr>
              <a:t>Scaling issues</a:t>
            </a:r>
          </a:p>
          <a:p>
            <a:pPr lvl="3" indent="0" eaLnBrk="0" fontAlgn="base" hangingPunct="0">
              <a:spcBef>
                <a:spcPct val="0"/>
              </a:spcBef>
              <a:spcAft>
                <a:spcPct val="0"/>
              </a:spcAft>
              <a:buClrTx/>
              <a:buFontTx/>
              <a:buChar char="•"/>
            </a:pPr>
            <a:r>
              <a:rPr kumimoji="0" lang="en-US" altLang="en-US" sz="1700" b="0" i="0" u="none" strike="noStrike" cap="none" normalizeH="0" baseline="0">
                <a:ln>
                  <a:noFill/>
                </a:ln>
                <a:effectLst/>
              </a:rPr>
              <a:t>Downtime during updates</a:t>
            </a:r>
          </a:p>
          <a:p>
            <a:pPr lvl="3" indent="0" eaLnBrk="0" fontAlgn="base" hangingPunct="0">
              <a:spcBef>
                <a:spcPct val="0"/>
              </a:spcBef>
              <a:spcAft>
                <a:spcPct val="0"/>
              </a:spcAft>
              <a:buClrTx/>
              <a:buFontTx/>
              <a:buChar char="•"/>
            </a:pPr>
            <a:r>
              <a:rPr kumimoji="0" lang="en-US" altLang="en-US" sz="1700" b="0" i="0" u="none" strike="noStrike" cap="none" normalizeH="0" baseline="0">
                <a:ln>
                  <a:noFill/>
                </a:ln>
                <a:effectLst/>
              </a:rPr>
              <a:t>Environment mismatch ("works on my machine" problem)</a:t>
            </a:r>
          </a:p>
          <a:p>
            <a:pPr marL="0" marR="0" lvl="0" indent="0" defTabSz="914400" rtl="0" eaLnBrk="0" fontAlgn="base" latinLnBrk="0" hangingPunct="0">
              <a:spcBef>
                <a:spcPct val="0"/>
              </a:spcBef>
              <a:spcAft>
                <a:spcPct val="0"/>
              </a:spcAft>
              <a:buClrTx/>
              <a:buSzTx/>
              <a:buFontTx/>
              <a:buNone/>
              <a:tabLst/>
            </a:pPr>
            <a:endParaRPr kumimoji="0" lang="en-US" altLang="en-US" sz="1700" b="0" i="0" u="none" strike="noStrike" cap="none" normalizeH="0" baseline="0">
              <a:ln>
                <a:noFill/>
              </a:ln>
              <a:effectLst/>
            </a:endParaRPr>
          </a:p>
          <a:p>
            <a:endParaRPr lang="en-US" sz="1700"/>
          </a:p>
        </p:txBody>
      </p:sp>
      <p:pic>
        <p:nvPicPr>
          <p:cNvPr id="13" name="Picture 12" descr="A diagram of a single server&#10;&#10;Description automatically generated">
            <a:extLst>
              <a:ext uri="{FF2B5EF4-FFF2-40B4-BE49-F238E27FC236}">
                <a16:creationId xmlns:a16="http://schemas.microsoft.com/office/drawing/2014/main" id="{A698D158-80B5-429F-AC39-060259CAA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7896" y="2034985"/>
            <a:ext cx="5212080" cy="3861541"/>
          </a:xfrm>
          <a:prstGeom prst="rect">
            <a:avLst/>
          </a:prstGeom>
          <a:noFill/>
        </p:spPr>
      </p:pic>
    </p:spTree>
    <p:extLst>
      <p:ext uri="{BB962C8B-B14F-4D97-AF65-F5344CB8AC3E}">
        <p14:creationId xmlns:p14="http://schemas.microsoft.com/office/powerpoint/2010/main" val="329392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365125"/>
            <a:ext cx="10515600" cy="1325563"/>
          </a:xfrm>
        </p:spPr>
        <p:txBody>
          <a:bodyPr anchor="ctr">
            <a:normAutofit/>
          </a:bodyPr>
          <a:lstStyle/>
          <a:p>
            <a:r>
              <a:rPr lang="en-US" dirty="0"/>
              <a:t>Evolution Towards Containerization</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half" idx="13"/>
          </p:nvPr>
        </p:nvSpPr>
        <p:spPr>
          <a:xfrm>
            <a:off x="821872" y="1393006"/>
            <a:ext cx="6934200" cy="4297680"/>
          </a:xfrm>
        </p:spPr>
        <p:txBody>
          <a:bodyPr vert="horz" lIns="91440" tIns="45720" rIns="91440" bIns="45720" rtlCol="0" anchor="t">
            <a:normAutofit/>
          </a:bodyPr>
          <a:lstStyle/>
          <a:p>
            <a:r>
              <a:rPr lang="en-US" b="1" i="0" dirty="0">
                <a:effectLst/>
              </a:rPr>
              <a:t>Containerization</a:t>
            </a:r>
            <a:r>
              <a:rPr lang="en-US" b="0" i="0" dirty="0">
                <a:effectLst/>
              </a:rPr>
              <a:t> is a process in software development that packages an application's code, libraries, and dependencies into a single, isolated unit called a </a:t>
            </a:r>
            <a:r>
              <a:rPr lang="en-US" b="1" i="0" dirty="0">
                <a:effectLst/>
              </a:rPr>
              <a:t>container. </a:t>
            </a:r>
            <a:r>
              <a:rPr lang="en-US" b="0" i="0" dirty="0">
                <a:effectLst/>
              </a:rPr>
              <a:t>These containers share the host operating system's kernel, making them lightweight and portable, so the application can run consistently across different computing environments without conflicts or the need for a separate operating system for each </a:t>
            </a:r>
          </a:p>
          <a:p>
            <a:r>
              <a:rPr lang="en-US" b="1" dirty="0"/>
              <a:t>Why Containers?</a:t>
            </a:r>
            <a:endParaRPr lang="en-US" dirty="0"/>
          </a:p>
          <a:p>
            <a:pPr lvl="1"/>
            <a:r>
              <a:rPr lang="en-US" dirty="0"/>
              <a:t>Lightweight and portable</a:t>
            </a:r>
          </a:p>
          <a:p>
            <a:pPr lvl="1"/>
            <a:r>
              <a:rPr lang="en-US" dirty="0"/>
              <a:t>Consistent environment</a:t>
            </a:r>
          </a:p>
          <a:p>
            <a:pPr lvl="1"/>
            <a:r>
              <a:rPr lang="en-US" dirty="0"/>
              <a:t>Faster deployment and scaling</a:t>
            </a:r>
          </a:p>
        </p:txBody>
      </p:sp>
      <p:pic>
        <p:nvPicPr>
          <p:cNvPr id="5" name="Picture 4" descr="A screenshot of a computer&#10;&#10;Description automatically generated">
            <a:extLst>
              <a:ext uri="{FF2B5EF4-FFF2-40B4-BE49-F238E27FC236}">
                <a16:creationId xmlns:a16="http://schemas.microsoft.com/office/drawing/2014/main" id="{B244D41A-9BF2-4BAF-914D-0F50FF2EA4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3779" y="2210295"/>
            <a:ext cx="4497355" cy="2932416"/>
          </a:xfrm>
          <a:prstGeom prst="rect">
            <a:avLst/>
          </a:prstGeom>
          <a:noFill/>
        </p:spPr>
      </p:pic>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125"/>
            <a:ext cx="10515600" cy="1325563"/>
          </a:xfrm>
          <a:noFill/>
        </p:spPr>
        <p:txBody>
          <a:bodyPr anchor="ctr"/>
          <a:lstStyle/>
          <a:p>
            <a:r>
              <a:rPr lang="en-US" dirty="0"/>
              <a:t>Introduction to Docker</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838200" y="1825625"/>
            <a:ext cx="4915163" cy="3726089"/>
          </a:xfrm>
          <a:noFill/>
        </p:spPr>
        <p:txBody>
          <a:bodyPr>
            <a:normAutofit/>
          </a:bodyPr>
          <a:lstStyle/>
          <a:p>
            <a:r>
              <a:rPr lang="en-US" b="0" i="0">
                <a:solidFill>
                  <a:srgbClr val="001D35"/>
                </a:solidFill>
                <a:effectLst/>
                <a:latin typeface="Google Sans"/>
              </a:rPr>
              <a:t>Docker is an open-source platform designed to simplify the development, deployment, and running of applications by utilizing containers.</a:t>
            </a:r>
            <a:r>
              <a:rPr lang="en-US"/>
              <a:t> </a:t>
            </a:r>
            <a:endParaRPr lang="en-US" dirty="0"/>
          </a:p>
          <a:p>
            <a:r>
              <a:rPr lang="en-US" b="1" i="0">
                <a:solidFill>
                  <a:srgbClr val="273239"/>
                </a:solidFill>
                <a:effectLst/>
                <a:latin typeface="Nunito" pitchFamily="2" charset="0"/>
              </a:rPr>
              <a:t>Components of Docker : </a:t>
            </a:r>
            <a:endParaRPr lang="en-US" dirty="0"/>
          </a:p>
          <a:p>
            <a:pPr lvl="1"/>
            <a:r>
              <a:rPr lang="en-US" sz="1400" b="1" i="0">
                <a:solidFill>
                  <a:srgbClr val="273239"/>
                </a:solidFill>
                <a:effectLst/>
                <a:latin typeface="Nunito" panose="020B0604020202020204" pitchFamily="2" charset="0"/>
              </a:rPr>
              <a:t>Docker Engine</a:t>
            </a:r>
          </a:p>
          <a:p>
            <a:pPr lvl="1"/>
            <a:r>
              <a:rPr lang="en-US" sz="1400" b="1" i="0">
                <a:solidFill>
                  <a:srgbClr val="273239"/>
                </a:solidFill>
                <a:effectLst/>
                <a:latin typeface="Nunito" panose="020B0604020202020204" pitchFamily="2" charset="0"/>
              </a:rPr>
              <a:t>Docker Image</a:t>
            </a:r>
            <a:endParaRPr lang="en-US" sz="1400" b="1">
              <a:solidFill>
                <a:srgbClr val="273239"/>
              </a:solidFill>
              <a:latin typeface="Nunito" panose="020B0604020202020204" pitchFamily="2" charset="0"/>
            </a:endParaRPr>
          </a:p>
          <a:p>
            <a:pPr lvl="1"/>
            <a:r>
              <a:rPr lang="en-US" sz="1400" b="1" i="0">
                <a:solidFill>
                  <a:srgbClr val="273239"/>
                </a:solidFill>
                <a:effectLst/>
                <a:latin typeface="Nunito" pitchFamily="2" charset="0"/>
              </a:rPr>
              <a:t>Docker Hub</a:t>
            </a:r>
          </a:p>
          <a:p>
            <a:pPr lvl="1"/>
            <a:r>
              <a:rPr lang="en-US" sz="1400" b="1" i="0">
                <a:solidFill>
                  <a:srgbClr val="273239"/>
                </a:solidFill>
                <a:effectLst/>
                <a:latin typeface="Nunito" pitchFamily="2" charset="0"/>
              </a:rPr>
              <a:t>Dockerfile</a:t>
            </a:r>
            <a:endParaRPr lang="en-US" sz="1400" dirty="0"/>
          </a:p>
        </p:txBody>
      </p:sp>
      <p:pic>
        <p:nvPicPr>
          <p:cNvPr id="3074" name="Picture 2" descr="Introduction to Docker - Flowygo">
            <a:extLst>
              <a:ext uri="{FF2B5EF4-FFF2-40B4-BE49-F238E27FC236}">
                <a16:creationId xmlns:a16="http://schemas.microsoft.com/office/drawing/2014/main" id="{CE6410CD-6691-4284-BAE8-AF208F3BE328}"/>
              </a:ext>
            </a:extLst>
          </p:cNvPr>
          <p:cNvPicPr>
            <a:picLocks noGrp="1" noChangeAspect="1" noChangeArrowheads="1"/>
          </p:cNvPicPr>
          <p:nvPr>
            <p:ph sz="half" idx="15"/>
          </p:nvPr>
        </p:nvPicPr>
        <p:blipFill>
          <a:blip r:embed="rId3">
            <a:extLst>
              <a:ext uri="{28A0092B-C50C-407E-A947-70E740481C1C}">
                <a14:useLocalDpi xmlns:a14="http://schemas.microsoft.com/office/drawing/2010/main" val="0"/>
              </a:ext>
            </a:extLst>
          </a:blip>
          <a:srcRect/>
          <a:stretch>
            <a:fillRect/>
          </a:stretch>
        </p:blipFill>
        <p:spPr bwMode="auto">
          <a:xfrm>
            <a:off x="4533489" y="3042914"/>
            <a:ext cx="7101394" cy="3633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7649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18472"/>
            <a:ext cx="10515600" cy="1325563"/>
          </a:xfrm>
          <a:noFill/>
        </p:spPr>
        <p:txBody>
          <a:bodyPr anchor="ctr"/>
          <a:lstStyle/>
          <a:p>
            <a:r>
              <a:rPr lang="en-US" dirty="0"/>
              <a:t>Container Orchestration</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sz="half" idx="1"/>
          </p:nvPr>
        </p:nvSpPr>
        <p:spPr>
          <a:xfrm>
            <a:off x="838200" y="1825625"/>
            <a:ext cx="10647783" cy="2886334"/>
          </a:xfrm>
          <a:noFill/>
        </p:spPr>
        <p:txBody>
          <a:bodyPr>
            <a:normAutofit/>
          </a:bodyPr>
          <a:lstStyle/>
          <a:p>
            <a:endParaRPr lang="en-US" b="0" i="0" dirty="0">
              <a:solidFill>
                <a:srgbClr val="001D35"/>
              </a:solidFill>
              <a:effectLst/>
              <a:latin typeface="Google Sans"/>
            </a:endParaRPr>
          </a:p>
          <a:p>
            <a:r>
              <a:rPr lang="en-US" b="0" i="0" dirty="0">
                <a:solidFill>
                  <a:srgbClr val="001D35"/>
                </a:solidFill>
                <a:effectLst/>
                <a:latin typeface="Google Sans"/>
              </a:rPr>
              <a:t>Container orchestration is </a:t>
            </a:r>
            <a:r>
              <a:rPr lang="en-US" dirty="0"/>
              <a:t>the automated process of deploying, scaling, managing, and networking containerized applications to ensure they run efficiently and reliably across distributed environments</a:t>
            </a:r>
          </a:p>
          <a:p>
            <a:r>
              <a:rPr lang="en-US" b="0" i="0" dirty="0">
                <a:solidFill>
                  <a:srgbClr val="001D35"/>
                </a:solidFill>
                <a:effectLst/>
                <a:latin typeface="Google Sans"/>
              </a:rPr>
              <a:t>It automates the entire container lifecycle, simplifying complex operations like resource allocation, load balancing, and high availability, which are challenging to manage manually at scale.</a:t>
            </a:r>
          </a:p>
          <a:p>
            <a:r>
              <a:rPr lang="en-US" b="0" i="0" dirty="0">
                <a:solidFill>
                  <a:srgbClr val="001D35"/>
                </a:solidFill>
                <a:effectLst/>
                <a:latin typeface="Google Sans"/>
              </a:rPr>
              <a:t>Popular tools like Kubernetes automate these processes, providing a framework for managing hundreds or thousands of containers for applications built on </a:t>
            </a:r>
            <a:r>
              <a:rPr lang="en-US" b="0" i="0" dirty="0">
                <a:effectLst/>
                <a:latin typeface="Google Sans"/>
                <a:hlinkClick r:id="rId3"/>
              </a:rPr>
              <a:t>microservices</a:t>
            </a:r>
            <a:r>
              <a:rPr lang="en-US" b="0" i="0" dirty="0">
                <a:solidFill>
                  <a:srgbClr val="001D35"/>
                </a:solidFill>
                <a:effectLst/>
                <a:latin typeface="Google Sans"/>
              </a:rPr>
              <a:t> and </a:t>
            </a:r>
            <a:r>
              <a:rPr lang="en-US" b="0" i="0" dirty="0">
                <a:effectLst/>
                <a:latin typeface="Google Sans"/>
                <a:hlinkClick r:id="rId4"/>
              </a:rPr>
              <a:t>cloud-native</a:t>
            </a:r>
            <a:r>
              <a:rPr lang="en-US" b="0" i="0" dirty="0">
                <a:solidFill>
                  <a:srgbClr val="001D35"/>
                </a:solidFill>
                <a:effectLst/>
                <a:latin typeface="Google Sans"/>
              </a:rPr>
              <a:t> architectures.</a:t>
            </a:r>
            <a:endParaRPr lang="en-US" dirty="0"/>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half" idx="15"/>
          </p:nvPr>
        </p:nvSpPr>
        <p:spPr>
          <a:xfrm>
            <a:off x="1657363" y="4180113"/>
            <a:ext cx="6698156" cy="2195739"/>
          </a:xfrm>
          <a:noFill/>
        </p:spPr>
        <p:txBody>
          <a:bodyPr>
            <a:normAutofit/>
          </a:bodyPr>
          <a:lstStyle/>
          <a:p>
            <a:endParaRPr lang="en-US" dirty="0"/>
          </a:p>
        </p:txBody>
      </p:sp>
    </p:spTree>
    <p:extLst>
      <p:ext uri="{BB962C8B-B14F-4D97-AF65-F5344CB8AC3E}">
        <p14:creationId xmlns:p14="http://schemas.microsoft.com/office/powerpoint/2010/main" val="729609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0" y="365125"/>
            <a:ext cx="10515600" cy="1325563"/>
          </a:xfrm>
        </p:spPr>
        <p:txBody>
          <a:bodyPr anchor="ctr">
            <a:normAutofit/>
          </a:bodyPr>
          <a:lstStyle/>
          <a:p>
            <a:r>
              <a:rPr lang="en-US" b="1" i="0">
                <a:effectLst/>
              </a:rPr>
              <a:t>Why Is Container Orchestration Needed?</a:t>
            </a:r>
            <a:br>
              <a:rPr lang="en-US" b="1" i="0">
                <a:effectLst/>
              </a:rPr>
            </a:br>
            <a:endParaRPr lang="en-US"/>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838200" y="1825625"/>
            <a:ext cx="4915163" cy="4297680"/>
          </a:xfrm>
        </p:spPr>
        <p:txBody>
          <a:bodyPr vert="horz" lIns="91440" tIns="45720" rIns="91440" bIns="45720" rtlCol="0">
            <a:normAutofit/>
          </a:bodyPr>
          <a:lstStyle/>
          <a:p>
            <a:pPr marL="285750" indent="-285750">
              <a:buFont typeface="Arial" panose="020B0604020202020204" pitchFamily="34" charset="0"/>
              <a:buChar char="•"/>
            </a:pPr>
            <a:r>
              <a:rPr lang="en-US" sz="1900" b="0" i="0">
                <a:effectLst/>
              </a:rPr>
              <a:t>Physically or with straightforward scripting, you can accomplish container management errands with a small number of system packages. However, this gets increasingly challenging as the number of containers grows. As a result, this is a prime use case for CO security software.</a:t>
            </a:r>
          </a:p>
          <a:p>
            <a:pPr marL="285750" indent="-285750">
              <a:buFont typeface="Arial" panose="020B0604020202020204" pitchFamily="34" charset="0"/>
              <a:buChar char="•"/>
            </a:pPr>
            <a:r>
              <a:rPr lang="en-US" sz="1900" b="0" i="0">
                <a:effectLst/>
              </a:rPr>
              <a:t>Other tools, such as Kafka, can be used to facilitate communication between containers.</a:t>
            </a:r>
          </a:p>
          <a:p>
            <a:br>
              <a:rPr lang="en-US" sz="1900"/>
            </a:br>
            <a:endParaRPr lang="en-US" sz="1900"/>
          </a:p>
        </p:txBody>
      </p:sp>
      <p:pic>
        <p:nvPicPr>
          <p:cNvPr id="7" name="Picture 6" descr="A diagram of a software system&#10;&#10;Description automatically generated with medium confidence">
            <a:extLst>
              <a:ext uri="{FF2B5EF4-FFF2-40B4-BE49-F238E27FC236}">
                <a16:creationId xmlns:a16="http://schemas.microsoft.com/office/drawing/2014/main" id="{EAC4ECA0-2ADA-45F5-9C05-1C3BCF4AA7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1952" y="1987420"/>
            <a:ext cx="5538909" cy="3489512"/>
          </a:xfrm>
          <a:prstGeom prst="rect">
            <a:avLst/>
          </a:prstGeom>
          <a:noFill/>
        </p:spPr>
      </p:pic>
    </p:spTree>
    <p:extLst>
      <p:ext uri="{BB962C8B-B14F-4D97-AF65-F5344CB8AC3E}">
        <p14:creationId xmlns:p14="http://schemas.microsoft.com/office/powerpoint/2010/main" val="2737241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454943" y="420621"/>
            <a:ext cx="10999638" cy="1325563"/>
          </a:xfrm>
          <a:noFill/>
        </p:spPr>
        <p:txBody>
          <a:bodyPr anchor="ctr"/>
          <a:lstStyle/>
          <a:p>
            <a:r>
              <a:rPr lang="en-US" b="1" dirty="0"/>
              <a:t>Traditional Deployment </a:t>
            </a:r>
            <a:r>
              <a:rPr lang="en-US" dirty="0"/>
              <a:t>vs</a:t>
            </a:r>
            <a:r>
              <a:rPr lang="en-US" b="1" dirty="0"/>
              <a:t> VMs</a:t>
            </a:r>
            <a:r>
              <a:rPr lang="en-US" dirty="0"/>
              <a:t> vs </a:t>
            </a:r>
            <a:r>
              <a:rPr lang="en-US" b="1" dirty="0"/>
              <a:t>Containers</a:t>
            </a:r>
          </a:p>
        </p:txBody>
      </p:sp>
      <p:pic>
        <p:nvPicPr>
          <p:cNvPr id="6" name="Content Placeholder 5" descr="A screenshot of a computer program&#10;&#10;Description automatically generated">
            <a:extLst>
              <a:ext uri="{FF2B5EF4-FFF2-40B4-BE49-F238E27FC236}">
                <a16:creationId xmlns:a16="http://schemas.microsoft.com/office/drawing/2014/main" id="{6F9617FE-E6F4-42B9-A3BB-5F583CA977A1}"/>
              </a:ext>
            </a:extLst>
          </p:cNvPr>
          <p:cNvPicPr>
            <a:picLocks noGrp="1" noChangeAspect="1"/>
          </p:cNvPicPr>
          <p:nvPr>
            <p:ph sz="half" idx="13"/>
          </p:nvPr>
        </p:nvPicPr>
        <p:blipFill>
          <a:blip r:embed="rId3">
            <a:extLst>
              <a:ext uri="{28A0092B-C50C-407E-A947-70E740481C1C}">
                <a14:useLocalDpi xmlns:a14="http://schemas.microsoft.com/office/drawing/2010/main" val="0"/>
              </a:ext>
            </a:extLst>
          </a:blip>
          <a:stretch>
            <a:fillRect/>
          </a:stretch>
        </p:blipFill>
        <p:spPr>
          <a:xfrm>
            <a:off x="1314061" y="1617009"/>
            <a:ext cx="9080241" cy="4714912"/>
          </a:xfrm>
          <a:noFill/>
        </p:spPr>
      </p:pic>
      <p:sp>
        <p:nvSpPr>
          <p:cNvPr id="4" name="Content Placeholder 3">
            <a:extLst>
              <a:ext uri="{FF2B5EF4-FFF2-40B4-BE49-F238E27FC236}">
                <a16:creationId xmlns:a16="http://schemas.microsoft.com/office/drawing/2014/main" id="{3EE67564-0457-E486-97D0-8109D2C97B3F}"/>
              </a:ext>
            </a:extLst>
          </p:cNvPr>
          <p:cNvSpPr>
            <a:spLocks noGrp="1"/>
          </p:cNvSpPr>
          <p:nvPr>
            <p:ph sz="half" idx="2"/>
          </p:nvPr>
        </p:nvSpPr>
        <p:spPr>
          <a:xfrm>
            <a:off x="7903029" y="1825625"/>
            <a:ext cx="3450771" cy="4297680"/>
          </a:xfrm>
          <a:noFill/>
        </p:spPr>
        <p:txBody>
          <a:bodyPr>
            <a:normAutofit/>
          </a:bodyPr>
          <a:lstStyle/>
          <a:p>
            <a:endParaRPr lang="en-US" dirty="0"/>
          </a:p>
        </p:txBody>
      </p:sp>
    </p:spTree>
    <p:extLst>
      <p:ext uri="{BB962C8B-B14F-4D97-AF65-F5344CB8AC3E}">
        <p14:creationId xmlns:p14="http://schemas.microsoft.com/office/powerpoint/2010/main" val="414613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454943" y="373968"/>
            <a:ext cx="10999638" cy="1325563"/>
          </a:xfrm>
          <a:noFill/>
        </p:spPr>
        <p:txBody>
          <a:bodyPr anchor="ctr"/>
          <a:lstStyle/>
          <a:p>
            <a:r>
              <a:rPr lang="en-US" dirty="0"/>
              <a:t>Kubernetes Architecture</a:t>
            </a:r>
            <a:endParaRPr lang="en-US" b="1" dirty="0"/>
          </a:p>
        </p:txBody>
      </p:sp>
      <p:sp>
        <p:nvSpPr>
          <p:cNvPr id="4" name="Content Placeholder 3">
            <a:extLst>
              <a:ext uri="{FF2B5EF4-FFF2-40B4-BE49-F238E27FC236}">
                <a16:creationId xmlns:a16="http://schemas.microsoft.com/office/drawing/2014/main" id="{3EE67564-0457-E486-97D0-8109D2C97B3F}"/>
              </a:ext>
            </a:extLst>
          </p:cNvPr>
          <p:cNvSpPr>
            <a:spLocks noGrp="1"/>
          </p:cNvSpPr>
          <p:nvPr>
            <p:ph sz="half" idx="2"/>
          </p:nvPr>
        </p:nvSpPr>
        <p:spPr>
          <a:xfrm>
            <a:off x="665584" y="1587563"/>
            <a:ext cx="5430416" cy="4297680"/>
          </a:xfrm>
          <a:noFill/>
        </p:spPr>
        <p:txBody>
          <a:bodyPr>
            <a:normAutofit/>
          </a:bodyPr>
          <a:lstStyle/>
          <a:p>
            <a:r>
              <a:rPr lang="en-US" b="0" i="0" dirty="0">
                <a:solidFill>
                  <a:srgbClr val="001D35"/>
                </a:solidFill>
                <a:effectLst/>
                <a:latin typeface="Google Sans"/>
              </a:rPr>
              <a:t>Kubernetes architecture is a distributed system designed to manage and orchestrate containerized applications. It operates on a master-worker model, consisting of a Control Plane and Worker Nodes.</a:t>
            </a:r>
          </a:p>
          <a:p>
            <a:r>
              <a:rPr lang="en-US" b="0" i="0" dirty="0">
                <a:solidFill>
                  <a:srgbClr val="001D35"/>
                </a:solidFill>
                <a:effectLst/>
                <a:latin typeface="Google Sans"/>
              </a:rPr>
              <a:t>A Kubernetes cluster is composed of several key components that work together to manage and orchestrate containerized applications. These components are broadly categorized into the Control Plane and Node Components.</a:t>
            </a:r>
            <a:endParaRPr lang="en-US" dirty="0"/>
          </a:p>
        </p:txBody>
      </p:sp>
      <p:pic>
        <p:nvPicPr>
          <p:cNvPr id="4098" name="Picture 2" descr="Kubernetes Architecture: The Definitive Guide (2025)">
            <a:extLst>
              <a:ext uri="{FF2B5EF4-FFF2-40B4-BE49-F238E27FC236}">
                <a16:creationId xmlns:a16="http://schemas.microsoft.com/office/drawing/2014/main" id="{613CAEE9-170B-42A8-89B0-CF76E6CE89C0}"/>
              </a:ext>
            </a:extLst>
          </p:cNvPr>
          <p:cNvPicPr>
            <a:picLocks noGrp="1" noChangeAspect="1" noChangeArrowheads="1"/>
          </p:cNvPicPr>
          <p:nvPr>
            <p:ph sz="half" idx="13"/>
          </p:nvPr>
        </p:nvPicPr>
        <p:blipFill>
          <a:blip r:embed="rId3">
            <a:extLst>
              <a:ext uri="{28A0092B-C50C-407E-A947-70E740481C1C}">
                <a14:useLocalDpi xmlns:a14="http://schemas.microsoft.com/office/drawing/2010/main" val="0"/>
              </a:ext>
            </a:extLst>
          </a:blip>
          <a:srcRect/>
          <a:stretch>
            <a:fillRect/>
          </a:stretch>
        </p:blipFill>
        <p:spPr bwMode="auto">
          <a:xfrm>
            <a:off x="6695770" y="1083402"/>
            <a:ext cx="4424516" cy="4930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797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454943" y="373968"/>
            <a:ext cx="10999638" cy="1325563"/>
          </a:xfrm>
          <a:noFill/>
        </p:spPr>
        <p:txBody>
          <a:bodyPr anchor="ctr"/>
          <a:lstStyle/>
          <a:p>
            <a:r>
              <a:rPr lang="en-US" dirty="0"/>
              <a:t>Kubernetes Architecture</a:t>
            </a:r>
            <a:endParaRPr lang="en-US" b="1" dirty="0"/>
          </a:p>
        </p:txBody>
      </p:sp>
      <p:sp>
        <p:nvSpPr>
          <p:cNvPr id="3" name="Rectangle 1">
            <a:extLst>
              <a:ext uri="{FF2B5EF4-FFF2-40B4-BE49-F238E27FC236}">
                <a16:creationId xmlns:a16="http://schemas.microsoft.com/office/drawing/2014/main" id="{41C7DB14-B59B-4390-9AE5-2A9B4389BCB0}"/>
              </a:ext>
            </a:extLst>
          </p:cNvPr>
          <p:cNvSpPr>
            <a:spLocks noGrp="1" noChangeArrowheads="1"/>
          </p:cNvSpPr>
          <p:nvPr>
            <p:ph sz="half" idx="2"/>
          </p:nvPr>
        </p:nvSpPr>
        <p:spPr bwMode="auto">
          <a:xfrm>
            <a:off x="655833" y="1566817"/>
            <a:ext cx="9850436" cy="33931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1D35"/>
                </a:solidFill>
                <a:effectLst/>
                <a:latin typeface="Google Sans"/>
              </a:rPr>
              <a:t>Control Plane Components</a:t>
            </a:r>
            <a:r>
              <a:rPr kumimoji="0" lang="en-US" altLang="en-US" sz="1400" b="0" i="0" u="none" strike="noStrike" cap="none" normalizeH="0" baseline="0" dirty="0">
                <a:ln>
                  <a:noFill/>
                </a:ln>
                <a:solidFill>
                  <a:srgbClr val="001D35"/>
                </a:solidFill>
                <a:effectLst/>
                <a:latin typeface="Google Sans"/>
              </a:rPr>
              <a:t>: These components manage the cluster and make global decisions.</a:t>
            </a:r>
          </a:p>
          <a:p>
            <a:pPr marR="0" lvl="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rgbClr val="001D35"/>
                </a:solidFill>
                <a:effectLst/>
                <a:latin typeface="Google Sans"/>
              </a:rPr>
              <a:t>Kube</a:t>
            </a:r>
            <a:r>
              <a:rPr kumimoji="0" lang="en-US" altLang="en-US" sz="1400" b="1" i="0" u="none" strike="noStrike" cap="none" normalizeH="0" baseline="0" dirty="0">
                <a:ln>
                  <a:noFill/>
                </a:ln>
                <a:solidFill>
                  <a:srgbClr val="001D35"/>
                </a:solidFill>
                <a:effectLst/>
                <a:latin typeface="Google Sans"/>
              </a:rPr>
              <a:t>-API Server:</a:t>
            </a:r>
            <a:endParaRPr kumimoji="0" lang="en-US" altLang="en-US" sz="1400" b="0" i="0" u="none" strike="noStrike" cap="none" normalizeH="0" baseline="0" dirty="0">
              <a:ln>
                <a:noFill/>
              </a:ln>
              <a:solidFill>
                <a:srgbClr val="001D35"/>
              </a:solidFill>
              <a:effectLst/>
              <a:latin typeface="Google Sans"/>
            </a:endParaRP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rgbClr val="545D7E"/>
                </a:solidFill>
                <a:effectLst/>
                <a:latin typeface="Google Sans"/>
              </a:rPr>
              <a:t>	The front-end to the Kubernetes control plane, exposing the Kubernetes API. All communication with the cluster happens 	through this component.</a:t>
            </a:r>
            <a:endParaRPr kumimoji="0" lang="en-US" altLang="en-US" sz="1400" b="0" i="0" u="none" strike="noStrike" cap="none" normalizeH="0" baseline="0" dirty="0">
              <a:ln>
                <a:noFill/>
              </a:ln>
              <a:solidFill>
                <a:srgbClr val="001D35"/>
              </a:solidFill>
              <a:effectLst/>
              <a:latin typeface="Google Sans"/>
            </a:endParaRPr>
          </a:p>
          <a:p>
            <a:pPr marR="0" lvl="0" algn="l" defTabSz="914400" rtl="0" eaLnBrk="0" fontAlgn="base" latinLnBrk="0" hangingPunct="0">
              <a:lnSpc>
                <a:spcPct val="100000"/>
              </a:lnSpc>
              <a:spcBef>
                <a:spcPct val="0"/>
              </a:spcBef>
              <a:spcAft>
                <a:spcPct val="0"/>
              </a:spcAft>
              <a:buClrTx/>
              <a:buSzTx/>
              <a:tabLst/>
            </a:pPr>
            <a:r>
              <a:rPr lang="en-US" altLang="en-US" sz="1400" b="1" dirty="0">
                <a:solidFill>
                  <a:srgbClr val="001D35"/>
                </a:solidFill>
                <a:latin typeface="Google Sans"/>
              </a:rPr>
              <a:t> </a:t>
            </a:r>
            <a:r>
              <a:rPr kumimoji="0" lang="en-US" altLang="en-US" sz="1400" b="1" i="0" u="none" strike="noStrike" cap="none" normalizeH="0" baseline="0" dirty="0" err="1">
                <a:ln>
                  <a:noFill/>
                </a:ln>
                <a:solidFill>
                  <a:srgbClr val="001D35"/>
                </a:solidFill>
                <a:effectLst/>
                <a:latin typeface="Google Sans"/>
              </a:rPr>
              <a:t>etcd</a:t>
            </a:r>
            <a:r>
              <a:rPr kumimoji="0" lang="en-US" altLang="en-US" sz="1400" b="1" i="0" u="none" strike="noStrike" cap="none" normalizeH="0" baseline="0" dirty="0">
                <a:ln>
                  <a:noFill/>
                </a:ln>
                <a:solidFill>
                  <a:srgbClr val="001D35"/>
                </a:solidFill>
                <a:effectLst/>
                <a:latin typeface="Google Sans"/>
              </a:rPr>
              <a:t>:</a:t>
            </a:r>
            <a:endParaRPr kumimoji="0" lang="en-US" altLang="en-US" sz="1400" b="0" i="0" u="none" strike="noStrike" cap="none" normalizeH="0" baseline="0" dirty="0">
              <a:ln>
                <a:noFill/>
              </a:ln>
              <a:solidFill>
                <a:srgbClr val="001D35"/>
              </a:solidFill>
              <a:effectLst/>
              <a:latin typeface="Google Sans"/>
            </a:endParaRPr>
          </a:p>
          <a:p>
            <a:pPr marR="0" lvl="0" algn="l" defTabSz="914400" rtl="0" eaLnBrk="0" fontAlgn="base" latinLnBrk="0" hangingPunct="0">
              <a:lnSpc>
                <a:spcPct val="100000"/>
              </a:lnSpc>
              <a:spcBef>
                <a:spcPct val="0"/>
              </a:spcBef>
              <a:spcAft>
                <a:spcPct val="0"/>
              </a:spcAft>
              <a:buClrTx/>
              <a:buSzTx/>
              <a:tabLst/>
            </a:pPr>
            <a:r>
              <a:rPr lang="en-US" altLang="en-US" sz="1400" dirty="0">
                <a:solidFill>
                  <a:srgbClr val="545D7E"/>
                </a:solidFill>
                <a:latin typeface="Google Sans"/>
              </a:rPr>
              <a:t>	</a:t>
            </a:r>
            <a:r>
              <a:rPr kumimoji="0" lang="en-US" altLang="en-US" sz="1400" b="0" i="0" u="none" strike="noStrike" cap="none" normalizeH="0" baseline="0" dirty="0">
                <a:ln>
                  <a:noFill/>
                </a:ln>
                <a:solidFill>
                  <a:srgbClr val="545D7E"/>
                </a:solidFill>
                <a:effectLst/>
                <a:latin typeface="Google Sans"/>
              </a:rPr>
              <a:t>A consistent and highly available key-value store used as Kubernetes' backing store for all cluster data.</a:t>
            </a:r>
            <a:endParaRPr kumimoji="0" lang="en-US" altLang="en-US" sz="14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rgbClr val="001D35"/>
                </a:solidFill>
                <a:effectLst/>
                <a:latin typeface="Google Sans"/>
              </a:rPr>
              <a:t>Kube</a:t>
            </a:r>
            <a:r>
              <a:rPr kumimoji="0" lang="en-US" altLang="en-US" sz="1400" b="1" i="0" u="none" strike="noStrike" cap="none" normalizeH="0" baseline="0" dirty="0">
                <a:ln>
                  <a:noFill/>
                </a:ln>
                <a:solidFill>
                  <a:srgbClr val="001D35"/>
                </a:solidFill>
                <a:effectLst/>
                <a:latin typeface="Google Sans"/>
              </a:rPr>
              <a:t>-Scheduler:</a:t>
            </a:r>
            <a:endParaRPr kumimoji="0" lang="en-US" altLang="en-US" sz="1400" b="0" i="0" u="none" strike="noStrike" cap="none" normalizeH="0" baseline="0" dirty="0">
              <a:ln>
                <a:noFill/>
              </a:ln>
              <a:solidFill>
                <a:srgbClr val="001D35"/>
              </a:solidFill>
              <a:effectLst/>
              <a:latin typeface="Google Sans"/>
            </a:endParaRPr>
          </a:p>
          <a:p>
            <a:pPr lvl="1" indent="0">
              <a:lnSpc>
                <a:spcPct val="100000"/>
              </a:lnSpc>
              <a:buClrTx/>
              <a:buNone/>
            </a:pPr>
            <a:r>
              <a:rPr kumimoji="0" lang="en-US" altLang="en-US" sz="1200" b="0" i="0" u="none" strike="noStrike" cap="none" normalizeH="0" baseline="0" dirty="0">
                <a:ln>
                  <a:noFill/>
                </a:ln>
                <a:solidFill>
                  <a:srgbClr val="545D7E"/>
                </a:solidFill>
                <a:effectLst/>
                <a:latin typeface="Google Sans"/>
              </a:rPr>
              <a:t>	Watches for newly created Pods with no assigned node and selects a node for them to run on.</a:t>
            </a:r>
            <a:endParaRPr kumimoji="0" lang="en-US" altLang="en-US" sz="12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rgbClr val="001D35"/>
                </a:solidFill>
                <a:effectLst/>
                <a:latin typeface="Google Sans"/>
              </a:rPr>
              <a:t>Kube</a:t>
            </a:r>
            <a:r>
              <a:rPr kumimoji="0" lang="en-US" altLang="en-US" sz="1400" b="1" i="0" u="none" strike="noStrike" cap="none" normalizeH="0" baseline="0" dirty="0">
                <a:ln>
                  <a:noFill/>
                </a:ln>
                <a:solidFill>
                  <a:srgbClr val="001D35"/>
                </a:solidFill>
                <a:effectLst/>
                <a:latin typeface="Google Sans"/>
              </a:rPr>
              <a:t>-Controller-Manager:</a:t>
            </a:r>
            <a:endParaRPr kumimoji="0" lang="en-US" altLang="en-US" sz="1400" b="0" i="0" u="none" strike="noStrike" cap="none" normalizeH="0" baseline="0" dirty="0">
              <a:ln>
                <a:noFill/>
              </a:ln>
              <a:solidFill>
                <a:srgbClr val="001D35"/>
              </a:solidFill>
              <a:effectLst/>
              <a:latin typeface="Google Sans"/>
            </a:endParaRP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rgbClr val="545D7E"/>
                </a:solidFill>
                <a:effectLst/>
                <a:latin typeface="Google Sans"/>
              </a:rPr>
              <a:t>	Runs various controller processes, such as the Node Controller (manages nodes), Replication Controller 	(maintains the correct number of Pods), and Endpoint Controller (populates Endpoint objects).</a:t>
            </a:r>
            <a:endParaRPr kumimoji="0" lang="en-US" altLang="en-US" sz="14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1D35"/>
                </a:solidFill>
                <a:effectLst/>
                <a:latin typeface="Google Sans"/>
              </a:rPr>
              <a:t>Cloud-Controller-Manager (Optional):</a:t>
            </a:r>
            <a:endParaRPr kumimoji="0" lang="en-US" altLang="en-US" sz="1400" b="0" i="0" u="none" strike="noStrike" cap="none" normalizeH="0" baseline="0" dirty="0">
              <a:ln>
                <a:noFill/>
              </a:ln>
              <a:solidFill>
                <a:srgbClr val="001D35"/>
              </a:solidFill>
              <a:effectLst/>
              <a:latin typeface="Google Sans"/>
            </a:endParaRPr>
          </a:p>
          <a:p>
            <a:pPr marR="0" lvl="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rgbClr val="545D7E"/>
                </a:solidFill>
                <a:effectLst/>
                <a:latin typeface="Google Sans"/>
              </a:rPr>
              <a:t>	Integrates with cloud provider APIs to manage cloud-specific resources like load balancers and persistent volumes.</a:t>
            </a:r>
            <a:endParaRPr kumimoji="0" lang="en-US" altLang="en-US" sz="1400" b="0" i="0" u="none" strike="noStrike" cap="none" normalizeH="0" baseline="0" dirty="0">
              <a:ln>
                <a:noFill/>
              </a:ln>
              <a:solidFill>
                <a:srgbClr val="001D35"/>
              </a:solidFill>
              <a:effectLst/>
              <a:latin typeface="Google Sans"/>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endParaRPr>
          </a:p>
        </p:txBody>
      </p:sp>
      <p:sp>
        <p:nvSpPr>
          <p:cNvPr id="5" name="Content Placeholder 4">
            <a:extLst>
              <a:ext uri="{FF2B5EF4-FFF2-40B4-BE49-F238E27FC236}">
                <a16:creationId xmlns:a16="http://schemas.microsoft.com/office/drawing/2014/main" id="{E7B65BCF-554C-4751-B0DB-87D74BA5BECE}"/>
              </a:ext>
            </a:extLst>
          </p:cNvPr>
          <p:cNvSpPr>
            <a:spLocks noGrp="1"/>
          </p:cNvSpPr>
          <p:nvPr>
            <p:ph sz="half" idx="13"/>
          </p:nvPr>
        </p:nvSpPr>
        <p:spPr>
          <a:xfrm>
            <a:off x="2863657" y="764223"/>
            <a:ext cx="9346584" cy="4297680"/>
          </a:xfrm>
        </p:spPr>
        <p:txBody>
          <a:bodyPr/>
          <a:lstStyle/>
          <a:p>
            <a:endParaRPr lang="en-US" dirty="0"/>
          </a:p>
          <a:p>
            <a:endParaRPr lang="en-US" dirty="0"/>
          </a:p>
        </p:txBody>
      </p:sp>
    </p:spTree>
    <p:extLst>
      <p:ext uri="{BB962C8B-B14F-4D97-AF65-F5344CB8AC3E}">
        <p14:creationId xmlns:p14="http://schemas.microsoft.com/office/powerpoint/2010/main" val="974131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454943" y="373968"/>
            <a:ext cx="10999638" cy="1325563"/>
          </a:xfrm>
          <a:noFill/>
        </p:spPr>
        <p:txBody>
          <a:bodyPr anchor="ctr"/>
          <a:lstStyle/>
          <a:p>
            <a:r>
              <a:rPr lang="en-US" dirty="0"/>
              <a:t>Kubernetes Architecture</a:t>
            </a:r>
            <a:endParaRPr lang="en-US" b="1" dirty="0"/>
          </a:p>
        </p:txBody>
      </p:sp>
      <p:sp>
        <p:nvSpPr>
          <p:cNvPr id="5" name="Content Placeholder 4">
            <a:extLst>
              <a:ext uri="{FF2B5EF4-FFF2-40B4-BE49-F238E27FC236}">
                <a16:creationId xmlns:a16="http://schemas.microsoft.com/office/drawing/2014/main" id="{E7B65BCF-554C-4751-B0DB-87D74BA5BECE}"/>
              </a:ext>
            </a:extLst>
          </p:cNvPr>
          <p:cNvSpPr>
            <a:spLocks noGrp="1"/>
          </p:cNvSpPr>
          <p:nvPr>
            <p:ph sz="half" idx="13"/>
          </p:nvPr>
        </p:nvSpPr>
        <p:spPr>
          <a:xfrm>
            <a:off x="2863657" y="764223"/>
            <a:ext cx="9346584" cy="4297680"/>
          </a:xfrm>
        </p:spPr>
        <p:txBody>
          <a:bodyPr/>
          <a:lstStyle/>
          <a:p>
            <a:endParaRPr lang="en-US" dirty="0"/>
          </a:p>
          <a:p>
            <a:endParaRPr lang="en-US" dirty="0"/>
          </a:p>
        </p:txBody>
      </p:sp>
      <p:sp>
        <p:nvSpPr>
          <p:cNvPr id="7" name="Rectangle 3">
            <a:extLst>
              <a:ext uri="{FF2B5EF4-FFF2-40B4-BE49-F238E27FC236}">
                <a16:creationId xmlns:a16="http://schemas.microsoft.com/office/drawing/2014/main" id="{ED62F09C-4125-456D-80A4-52006ED8EAF2}"/>
              </a:ext>
            </a:extLst>
          </p:cNvPr>
          <p:cNvSpPr>
            <a:spLocks noGrp="1" noChangeArrowheads="1"/>
          </p:cNvSpPr>
          <p:nvPr>
            <p:ph sz="half" idx="2"/>
          </p:nvPr>
        </p:nvSpPr>
        <p:spPr bwMode="auto">
          <a:xfrm>
            <a:off x="737419" y="1484061"/>
            <a:ext cx="9346583" cy="35778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1D35"/>
                </a:solidFill>
                <a:effectLst/>
                <a:latin typeface="Google Sans"/>
              </a:rPr>
              <a:t>Node Components</a:t>
            </a:r>
            <a:r>
              <a:rPr kumimoji="0" lang="en-US" altLang="en-US" sz="2000" b="0" i="0" u="none" strike="noStrike" cap="none" normalizeH="0" baseline="0" dirty="0">
                <a:ln>
                  <a:noFill/>
                </a:ln>
                <a:solidFill>
                  <a:srgbClr val="001D35"/>
                </a:solidFill>
                <a:effectLst/>
                <a:latin typeface="Google Sans"/>
              </a:rPr>
              <a:t>: These components run on each worker node and are responsible for running Pods and interacting with the control plane.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001D35"/>
                </a:solidFill>
                <a:effectLst/>
                <a:latin typeface="Google Sans"/>
              </a:rPr>
              <a:t>Kubelet</a:t>
            </a:r>
            <a:r>
              <a:rPr kumimoji="0" lang="en-US" altLang="en-US" sz="2000" b="1" i="0" u="none" strike="noStrike" cap="none" normalizeH="0" baseline="0" dirty="0">
                <a:ln>
                  <a:noFill/>
                </a:ln>
                <a:solidFill>
                  <a:srgbClr val="001D35"/>
                </a:solidFill>
                <a:effectLst/>
                <a:latin typeface="Google Sans"/>
              </a:rPr>
              <a:t>:</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latin typeface="Google Sans"/>
              </a:rPr>
              <a:t>An agent that runs on each node in the cluster, ensuring that containers are running in a Pod. It communicates with the </a:t>
            </a:r>
            <a:r>
              <a:rPr kumimoji="0" lang="en-US" altLang="en-US" sz="2000" b="0" i="0" u="none" strike="noStrike" cap="none" normalizeH="0" baseline="0" dirty="0" err="1">
                <a:ln>
                  <a:noFill/>
                </a:ln>
                <a:solidFill>
                  <a:srgbClr val="545D7E"/>
                </a:solidFill>
                <a:effectLst/>
                <a:latin typeface="Google Sans"/>
              </a:rPr>
              <a:t>Kube</a:t>
            </a:r>
            <a:r>
              <a:rPr kumimoji="0" lang="en-US" altLang="en-US" sz="2000" b="0" i="0" u="none" strike="noStrike" cap="none" normalizeH="0" baseline="0" dirty="0">
                <a:ln>
                  <a:noFill/>
                </a:ln>
                <a:solidFill>
                  <a:srgbClr val="545D7E"/>
                </a:solidFill>
                <a:effectLst/>
                <a:latin typeface="Google Sans"/>
              </a:rPr>
              <a:t>-API Server.</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001D35"/>
                </a:solidFill>
                <a:effectLst/>
                <a:latin typeface="Google Sans"/>
              </a:rPr>
              <a:t>Kube</a:t>
            </a:r>
            <a:r>
              <a:rPr kumimoji="0" lang="en-US" altLang="en-US" sz="2000" b="1" i="0" u="none" strike="noStrike" cap="none" normalizeH="0" baseline="0" dirty="0">
                <a:ln>
                  <a:noFill/>
                </a:ln>
                <a:solidFill>
                  <a:srgbClr val="001D35"/>
                </a:solidFill>
                <a:effectLst/>
                <a:latin typeface="Google Sans"/>
              </a:rPr>
              <a:t>-Proxy:</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latin typeface="Google Sans"/>
              </a:rPr>
              <a:t>A network proxy that runs on each node, maintaining network rules on nodes and handling network communication for Pods.</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01D35"/>
                </a:solidFill>
                <a:effectLst/>
                <a:latin typeface="Google Sans"/>
              </a:rPr>
              <a:t>Container Runtime:</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45D7E"/>
                </a:solidFill>
                <a:effectLst/>
                <a:latin typeface="Google Sans"/>
              </a:rPr>
              <a:t>The software responsible for running containers</a:t>
            </a:r>
            <a:endParaRPr kumimoji="0" lang="en-US" altLang="en-US" sz="20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5437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614591" y="-609601"/>
            <a:ext cx="5257800" cy="2355335"/>
          </a:xfrm>
        </p:spPr>
        <p:txBody>
          <a:bodyPr anchor="b">
            <a:normAutofit/>
          </a:bodyPr>
          <a:lstStyle/>
          <a:p>
            <a:r>
              <a:rPr lang="en-US" sz="3200" dirty="0"/>
              <a:t>Kubernetes Architecture</a:t>
            </a:r>
            <a:endParaRPr lang="en-US" sz="3200" b="1" dirty="0"/>
          </a:p>
        </p:txBody>
      </p:sp>
      <p:sp>
        <p:nvSpPr>
          <p:cNvPr id="5" name="Content Placeholder 4">
            <a:extLst>
              <a:ext uri="{FF2B5EF4-FFF2-40B4-BE49-F238E27FC236}">
                <a16:creationId xmlns:a16="http://schemas.microsoft.com/office/drawing/2014/main" id="{E7B65BCF-554C-4751-B0DB-87D74BA5BECE}"/>
              </a:ext>
            </a:extLst>
          </p:cNvPr>
          <p:cNvSpPr>
            <a:spLocks noGrp="1"/>
          </p:cNvSpPr>
          <p:nvPr>
            <p:ph sz="half" idx="1"/>
          </p:nvPr>
        </p:nvSpPr>
        <p:spPr>
          <a:xfrm>
            <a:off x="838200" y="2657316"/>
            <a:ext cx="5257800" cy="3369858"/>
          </a:xfrm>
        </p:spPr>
        <p:txBody>
          <a:bodyPr>
            <a:normAutofit/>
          </a:bodyPr>
          <a:lstStyle/>
          <a:p>
            <a:endParaRPr lang="en-US" dirty="0"/>
          </a:p>
          <a:p>
            <a:endParaRPr lang="en-US" dirty="0"/>
          </a:p>
        </p:txBody>
      </p:sp>
      <p:pic>
        <p:nvPicPr>
          <p:cNvPr id="7170" name="Picture 2" descr="What is Kubernetes Pod? Explained With Practical Examples">
            <a:extLst>
              <a:ext uri="{FF2B5EF4-FFF2-40B4-BE49-F238E27FC236}">
                <a16:creationId xmlns:a16="http://schemas.microsoft.com/office/drawing/2014/main" id="{9F605F76-6FF5-42E3-A0B1-FC61555335CD}"/>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tretch/>
        </p:blipFill>
        <p:spPr bwMode="auto">
          <a:xfrm>
            <a:off x="6413114" y="874917"/>
            <a:ext cx="5193792" cy="5134093"/>
          </a:xfrm>
          <a:prstGeom prst="rect">
            <a:avLst/>
          </a:prstGeom>
          <a:solidFill>
            <a:srgbClr val="FFFFFF"/>
          </a:solidFill>
        </p:spPr>
      </p:pic>
      <p:sp>
        <p:nvSpPr>
          <p:cNvPr id="8" name="TextBox 7">
            <a:extLst>
              <a:ext uri="{FF2B5EF4-FFF2-40B4-BE49-F238E27FC236}">
                <a16:creationId xmlns:a16="http://schemas.microsoft.com/office/drawing/2014/main" id="{198EDE17-83E6-46C3-951F-FBBACE299B43}"/>
              </a:ext>
            </a:extLst>
          </p:cNvPr>
          <p:cNvSpPr txBox="1"/>
          <p:nvPr/>
        </p:nvSpPr>
        <p:spPr>
          <a:xfrm>
            <a:off x="317114" y="2070753"/>
            <a:ext cx="5555277" cy="2308324"/>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001D35"/>
                </a:solidFill>
                <a:effectLst/>
                <a:latin typeface="Google Sans"/>
              </a:rPr>
              <a:t>A Kubernetes</a:t>
            </a:r>
            <a:r>
              <a:rPr lang="en-US" b="1" i="0" dirty="0">
                <a:solidFill>
                  <a:srgbClr val="001D35"/>
                </a:solidFill>
                <a:effectLst/>
                <a:latin typeface="Google Sans"/>
              </a:rPr>
              <a:t> Pod </a:t>
            </a:r>
            <a:r>
              <a:rPr lang="en-US" b="0" i="0" dirty="0">
                <a:solidFill>
                  <a:srgbClr val="001D35"/>
                </a:solidFill>
                <a:effectLst/>
                <a:latin typeface="Google Sans"/>
              </a:rPr>
              <a:t>represents the smallest deployable unit in Kubernetes. </a:t>
            </a:r>
          </a:p>
          <a:p>
            <a:pPr marL="285750" indent="-285750">
              <a:buFont typeface="Arial" panose="020B0604020202020204" pitchFamily="34" charset="0"/>
              <a:buChar char="•"/>
            </a:pPr>
            <a:endParaRPr lang="en-US" dirty="0">
              <a:solidFill>
                <a:srgbClr val="001D35"/>
              </a:solidFill>
              <a:latin typeface="Google Sans"/>
            </a:endParaRPr>
          </a:p>
          <a:p>
            <a:pPr marL="285750" indent="-285750">
              <a:buFont typeface="Arial" panose="020B0604020202020204" pitchFamily="34" charset="0"/>
              <a:buChar char="•"/>
            </a:pPr>
            <a:r>
              <a:rPr lang="en-US" b="0" i="0" dirty="0">
                <a:solidFill>
                  <a:srgbClr val="001D35"/>
                </a:solidFill>
                <a:effectLst/>
                <a:latin typeface="Google Sans"/>
              </a:rPr>
              <a:t>It is an abstraction that encapsulates one or more application containers (such as Docker containers), along with shared resources like storage volumes, a unique IP address, and information about how to run the containers</a:t>
            </a:r>
            <a:endParaRPr lang="en-US" dirty="0"/>
          </a:p>
        </p:txBody>
      </p:sp>
    </p:spTree>
    <p:extLst>
      <p:ext uri="{BB962C8B-B14F-4D97-AF65-F5344CB8AC3E}">
        <p14:creationId xmlns:p14="http://schemas.microsoft.com/office/powerpoint/2010/main" val="1916125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7B65BCF-554C-4751-B0DB-87D74BA5BECE}"/>
              </a:ext>
            </a:extLst>
          </p:cNvPr>
          <p:cNvSpPr>
            <a:spLocks noGrp="1"/>
          </p:cNvSpPr>
          <p:nvPr>
            <p:ph sz="half" idx="1"/>
          </p:nvPr>
        </p:nvSpPr>
        <p:spPr>
          <a:xfrm>
            <a:off x="1789923" y="2666647"/>
            <a:ext cx="5257800" cy="3369858"/>
          </a:xfrm>
        </p:spPr>
        <p:txBody>
          <a:bodyPr>
            <a:normAutofit/>
          </a:bodyPr>
          <a:lstStyle/>
          <a:p>
            <a:endParaRPr lang="en-US" dirty="0"/>
          </a:p>
          <a:p>
            <a:endParaRPr lang="en-US" dirty="0"/>
          </a:p>
        </p:txBody>
      </p:sp>
      <p:sp>
        <p:nvSpPr>
          <p:cNvPr id="10" name="Rectangle 4">
            <a:extLst>
              <a:ext uri="{FF2B5EF4-FFF2-40B4-BE49-F238E27FC236}">
                <a16:creationId xmlns:a16="http://schemas.microsoft.com/office/drawing/2014/main" id="{39835E04-FC25-4364-AAEE-4DBC657B74AC}"/>
              </a:ext>
            </a:extLst>
          </p:cNvPr>
          <p:cNvSpPr>
            <a:spLocks noGrp="1" noChangeArrowheads="1"/>
          </p:cNvSpPr>
          <p:nvPr>
            <p:ph type="title"/>
          </p:nvPr>
        </p:nvSpPr>
        <p:spPr bwMode="auto">
          <a:xfrm>
            <a:off x="1164869" y="1214312"/>
            <a:ext cx="6728829"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Wingdings" panose="05000000000000000000" pitchFamily="2" charset="2"/>
              <a:buChar char="§"/>
            </a:pPr>
            <a:r>
              <a:rPr lang="en-US" sz="2800" b="1" dirty="0"/>
              <a:t>Advantages of Kubernetes</a:t>
            </a:r>
            <a:br>
              <a:rPr lang="en-US" sz="2800" b="1" dirty="0"/>
            </a:br>
            <a:br>
              <a:rPr lang="en-US" sz="2800" b="1" dirty="0"/>
            </a:br>
            <a:r>
              <a:rPr lang="en-US" sz="2800" b="1" dirty="0"/>
              <a:t>1. </a:t>
            </a:r>
            <a:r>
              <a:rPr lang="en-US" sz="2800" dirty="0"/>
              <a:t>Auto-scaling and self-healing</a:t>
            </a:r>
            <a:br>
              <a:rPr lang="en-US" sz="2800" dirty="0"/>
            </a:br>
            <a:r>
              <a:rPr lang="en-US" sz="2800" dirty="0"/>
              <a:t>2. Rolling updates without downtime</a:t>
            </a:r>
            <a:br>
              <a:rPr lang="en-US" sz="2800" dirty="0"/>
            </a:br>
            <a:r>
              <a:rPr lang="en-US" sz="2800" dirty="0"/>
              <a:t>3. Multi-cloud compatibility</a:t>
            </a:r>
            <a:br>
              <a:rPr lang="en-US" sz="2800" dirty="0"/>
            </a:br>
            <a:r>
              <a:rPr lang="en-US" sz="2800" dirty="0"/>
              <a:t>4. Declarative configuration (YAML)</a:t>
            </a:r>
            <a:br>
              <a:rPr lang="en-US" sz="2800" dirty="0"/>
            </a:br>
            <a:r>
              <a:rPr lang="en-US" sz="2800" dirty="0"/>
              <a:t>5. Efficient resource utilization</a:t>
            </a:r>
            <a:br>
              <a:rPr lang="en-US" sz="2800" dirty="0"/>
            </a:br>
            <a:r>
              <a:rPr lang="en-US" sz="2800" dirty="0"/>
              <a:t>6.</a:t>
            </a:r>
            <a:r>
              <a:rPr lang="en-US" sz="3600" dirty="0"/>
              <a:t> </a:t>
            </a:r>
            <a:r>
              <a:rPr lang="en-US" sz="2800" i="0" dirty="0">
                <a:solidFill>
                  <a:srgbClr val="001D35"/>
                </a:solidFill>
                <a:effectLst/>
                <a:latin typeface="Google Sans"/>
              </a:rPr>
              <a:t>Automation</a:t>
            </a:r>
            <a:br>
              <a:rPr lang="en-US" sz="2800" dirty="0"/>
            </a:b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3114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7B65BCF-554C-4751-B0DB-87D74BA5BECE}"/>
              </a:ext>
            </a:extLst>
          </p:cNvPr>
          <p:cNvSpPr>
            <a:spLocks noGrp="1"/>
          </p:cNvSpPr>
          <p:nvPr>
            <p:ph sz="half" idx="1"/>
          </p:nvPr>
        </p:nvSpPr>
        <p:spPr>
          <a:xfrm>
            <a:off x="1789923" y="2666647"/>
            <a:ext cx="5257800" cy="3369858"/>
          </a:xfrm>
        </p:spPr>
        <p:txBody>
          <a:bodyPr>
            <a:normAutofit/>
          </a:bodyPr>
          <a:lstStyle/>
          <a:p>
            <a:endParaRPr lang="en-US" dirty="0"/>
          </a:p>
          <a:p>
            <a:endParaRPr lang="en-US" dirty="0"/>
          </a:p>
        </p:txBody>
      </p:sp>
      <p:sp>
        <p:nvSpPr>
          <p:cNvPr id="10" name="Rectangle 4">
            <a:extLst>
              <a:ext uri="{FF2B5EF4-FFF2-40B4-BE49-F238E27FC236}">
                <a16:creationId xmlns:a16="http://schemas.microsoft.com/office/drawing/2014/main" id="{39835E04-FC25-4364-AAEE-4DBC657B74AC}"/>
              </a:ext>
            </a:extLst>
          </p:cNvPr>
          <p:cNvSpPr>
            <a:spLocks noGrp="1" noChangeArrowheads="1"/>
          </p:cNvSpPr>
          <p:nvPr>
            <p:ph type="title"/>
          </p:nvPr>
        </p:nvSpPr>
        <p:spPr bwMode="auto">
          <a:xfrm>
            <a:off x="1164869" y="1463612"/>
            <a:ext cx="7027409" cy="319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2800" b="1" dirty="0"/>
              <a:t>Disadvantages / Challenges</a:t>
            </a:r>
            <a:br>
              <a:rPr lang="en-US" sz="2800" b="1" dirty="0"/>
            </a:br>
            <a:br>
              <a:rPr lang="en-US" sz="2800" b="1" dirty="0"/>
            </a:br>
            <a:r>
              <a:rPr lang="en-US" sz="2800" b="1" dirty="0"/>
              <a:t>1. </a:t>
            </a:r>
            <a:r>
              <a:rPr lang="en-US" sz="2800" dirty="0"/>
              <a:t>Complex learning curve</a:t>
            </a:r>
            <a:br>
              <a:rPr lang="en-US" sz="2800" dirty="0"/>
            </a:br>
            <a:r>
              <a:rPr lang="en-US" sz="2800" dirty="0"/>
              <a:t>2. Requires strong DevOps knowledge</a:t>
            </a:r>
            <a:br>
              <a:rPr lang="en-US" sz="2800" dirty="0"/>
            </a:br>
            <a:r>
              <a:rPr lang="en-US" sz="2800" dirty="0"/>
              <a:t>3. High setup &amp; maintenance costs</a:t>
            </a:r>
            <a:br>
              <a:rPr lang="en-US" sz="2800" dirty="0"/>
            </a:br>
            <a:r>
              <a:rPr lang="en-US" sz="2800" dirty="0"/>
              <a:t>4. Debugging distributed apps is harder</a:t>
            </a:r>
            <a:br>
              <a:rPr lang="en-US" sz="2800" dirty="0"/>
            </a:br>
            <a:br>
              <a:rPr lang="en-US" sz="2800" dirty="0"/>
            </a:b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3080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7B65BCF-554C-4751-B0DB-87D74BA5BECE}"/>
              </a:ext>
            </a:extLst>
          </p:cNvPr>
          <p:cNvSpPr>
            <a:spLocks noGrp="1"/>
          </p:cNvSpPr>
          <p:nvPr>
            <p:ph sz="half" idx="1"/>
          </p:nvPr>
        </p:nvSpPr>
        <p:spPr>
          <a:xfrm>
            <a:off x="1789923" y="2666647"/>
            <a:ext cx="5257800" cy="3369858"/>
          </a:xfrm>
        </p:spPr>
        <p:txBody>
          <a:bodyPr>
            <a:normAutofit/>
          </a:bodyPr>
          <a:lstStyle/>
          <a:p>
            <a:endParaRPr lang="en-US" dirty="0"/>
          </a:p>
          <a:p>
            <a:endParaRPr lang="en-US" dirty="0"/>
          </a:p>
        </p:txBody>
      </p:sp>
      <p:sp>
        <p:nvSpPr>
          <p:cNvPr id="10" name="Rectangle 4">
            <a:extLst>
              <a:ext uri="{FF2B5EF4-FFF2-40B4-BE49-F238E27FC236}">
                <a16:creationId xmlns:a16="http://schemas.microsoft.com/office/drawing/2014/main" id="{39835E04-FC25-4364-AAEE-4DBC657B74AC}"/>
              </a:ext>
            </a:extLst>
          </p:cNvPr>
          <p:cNvSpPr>
            <a:spLocks noGrp="1" noChangeArrowheads="1"/>
          </p:cNvSpPr>
          <p:nvPr>
            <p:ph type="title"/>
          </p:nvPr>
        </p:nvSpPr>
        <p:spPr bwMode="auto">
          <a:xfrm>
            <a:off x="898652" y="1040992"/>
            <a:ext cx="7724488" cy="283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800" b="1" dirty="0"/>
              <a:t>Conclusion</a:t>
            </a:r>
            <a:br>
              <a:rPr lang="en-US" sz="1800" b="1" dirty="0"/>
            </a:br>
            <a:r>
              <a:rPr lang="en-US" sz="1800" b="1" dirty="0"/>
              <a:t>1. </a:t>
            </a:r>
            <a:r>
              <a:rPr lang="en-US" sz="1800" dirty="0"/>
              <a:t>The evolution from </a:t>
            </a:r>
            <a:r>
              <a:rPr lang="en-US" sz="1800" b="1" dirty="0"/>
              <a:t>traditional monolithic applications</a:t>
            </a:r>
            <a:r>
              <a:rPr lang="en-US" sz="1800" dirty="0"/>
              <a:t> to </a:t>
            </a:r>
            <a:r>
              <a:rPr lang="en-US" sz="1800" b="1" dirty="0"/>
              <a:t>containerized microservices</a:t>
            </a:r>
            <a:r>
              <a:rPr lang="en-US" sz="1800" dirty="0"/>
              <a:t> has completely transformed the way we </a:t>
            </a:r>
            <a:r>
              <a:rPr lang="en-US" sz="1800" b="1" dirty="0"/>
              <a:t>develop, deploy, and scale</a:t>
            </a:r>
            <a:r>
              <a:rPr lang="en-US" sz="1800" dirty="0"/>
              <a:t> modern applications.</a:t>
            </a:r>
            <a:br>
              <a:rPr lang="en-US" sz="1800" dirty="0"/>
            </a:br>
            <a:r>
              <a:rPr lang="en-US" sz="1800" dirty="0"/>
              <a:t>2. </a:t>
            </a:r>
            <a:r>
              <a:rPr lang="en-US" sz="1800" b="1" dirty="0"/>
              <a:t>Docker</a:t>
            </a:r>
            <a:r>
              <a:rPr lang="en-US" sz="1800" dirty="0"/>
              <a:t> solved the problem of portability by enabling applications to run </a:t>
            </a:r>
            <a:r>
              <a:rPr lang="en-US" sz="1800" b="1" dirty="0"/>
              <a:t>anywhere</a:t>
            </a:r>
            <a:r>
              <a:rPr lang="en-US" sz="1800" dirty="0"/>
              <a:t>, but managing </a:t>
            </a:r>
            <a:r>
              <a:rPr lang="en-US" sz="1800" b="1" dirty="0"/>
              <a:t>hundreds or thousands of containers</a:t>
            </a:r>
            <a:r>
              <a:rPr lang="en-US" sz="1800" dirty="0"/>
              <a:t> manually became complex.</a:t>
            </a:r>
            <a:br>
              <a:rPr lang="en-US" sz="1800" dirty="0"/>
            </a:br>
            <a:r>
              <a:rPr lang="en-US" sz="1800" dirty="0"/>
              <a:t>3. </a:t>
            </a:r>
            <a:r>
              <a:rPr lang="en-US" sz="1800" b="1" dirty="0"/>
              <a:t>Kubernetes</a:t>
            </a:r>
            <a:r>
              <a:rPr lang="en-US" sz="1800" dirty="0"/>
              <a:t> emerged as the </a:t>
            </a:r>
            <a:r>
              <a:rPr lang="en-US" sz="1800" b="1" dirty="0"/>
              <a:t>industry-standard container orchestration platform</a:t>
            </a:r>
            <a:r>
              <a:rPr lang="en-US" sz="1800" dirty="0"/>
              <a:t>, offering:</a:t>
            </a:r>
            <a:br>
              <a:rPr lang="en-US" sz="1800" dirty="0"/>
            </a:br>
            <a:br>
              <a:rPr lang="en-US" sz="1800" dirty="0"/>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199C228E-4DA7-4665-8579-71E7644CE4C2}"/>
              </a:ext>
            </a:extLst>
          </p:cNvPr>
          <p:cNvSpPr txBox="1"/>
          <p:nvPr/>
        </p:nvSpPr>
        <p:spPr>
          <a:xfrm>
            <a:off x="1887815" y="3429000"/>
            <a:ext cx="9105733" cy="2031325"/>
          </a:xfrm>
          <a:prstGeom prst="rect">
            <a:avLst/>
          </a:prstGeom>
          <a:noFill/>
        </p:spPr>
        <p:txBody>
          <a:bodyPr wrap="square">
            <a:spAutoFit/>
          </a:bodyPr>
          <a:lstStyle/>
          <a:p>
            <a:r>
              <a:rPr lang="en-US" sz="1800" b="1" dirty="0">
                <a:latin typeface="+mj-lt"/>
              </a:rPr>
              <a:t>Automated deployment</a:t>
            </a:r>
            <a:r>
              <a:rPr lang="en-US" sz="1800" dirty="0">
                <a:latin typeface="+mj-lt"/>
              </a:rPr>
              <a:t> and scaling</a:t>
            </a:r>
            <a:br>
              <a:rPr lang="en-US" sz="1800" dirty="0">
                <a:latin typeface="+mj-lt"/>
              </a:rPr>
            </a:br>
            <a:r>
              <a:rPr lang="en-US" sz="1800" b="1" dirty="0">
                <a:latin typeface="+mj-lt"/>
              </a:rPr>
              <a:t>Load balancing</a:t>
            </a:r>
            <a:r>
              <a:rPr lang="en-US" sz="1800" dirty="0">
                <a:latin typeface="+mj-lt"/>
              </a:rPr>
              <a:t> and </a:t>
            </a:r>
            <a:r>
              <a:rPr lang="en-US" sz="1800" b="1" dirty="0">
                <a:latin typeface="+mj-lt"/>
              </a:rPr>
              <a:t>self-healing</a:t>
            </a:r>
            <a:br>
              <a:rPr lang="en-US" sz="1800" dirty="0">
                <a:latin typeface="+mj-lt"/>
              </a:rPr>
            </a:br>
            <a:r>
              <a:rPr lang="en-US" sz="1800" b="1" dirty="0">
                <a:latin typeface="+mj-lt"/>
              </a:rPr>
              <a:t>Efficient resource utilization</a:t>
            </a:r>
            <a:br>
              <a:rPr lang="en-US" sz="1800" dirty="0">
                <a:latin typeface="+mj-lt"/>
              </a:rPr>
            </a:br>
            <a:r>
              <a:rPr lang="en-US" sz="1800" b="1" dirty="0">
                <a:latin typeface="+mj-lt"/>
              </a:rPr>
              <a:t>Cloud-native compatibility</a:t>
            </a:r>
          </a:p>
          <a:p>
            <a:br>
              <a:rPr lang="en-US" sz="1800" dirty="0">
                <a:latin typeface="+mj-lt"/>
              </a:rPr>
            </a:br>
            <a:r>
              <a:rPr lang="en-US" sz="1800" dirty="0">
                <a:latin typeface="+mj-lt"/>
              </a:rPr>
              <a:t>Today, Kubernetes powers </a:t>
            </a:r>
            <a:r>
              <a:rPr lang="en-US" sz="1800" b="1" dirty="0">
                <a:latin typeface="+mj-lt"/>
              </a:rPr>
              <a:t>cloud computing</a:t>
            </a:r>
            <a:r>
              <a:rPr lang="en-US" sz="1800" dirty="0">
                <a:latin typeface="+mj-lt"/>
              </a:rPr>
              <a:t>, </a:t>
            </a:r>
            <a:r>
              <a:rPr lang="en-US" sz="1800" b="1" dirty="0">
                <a:latin typeface="+mj-lt"/>
              </a:rPr>
              <a:t>DevOps pipelines</a:t>
            </a:r>
            <a:r>
              <a:rPr lang="en-US" sz="1800" dirty="0">
                <a:latin typeface="+mj-lt"/>
              </a:rPr>
              <a:t>, </a:t>
            </a:r>
            <a:r>
              <a:rPr lang="en-US" sz="1800" b="1" dirty="0">
                <a:latin typeface="+mj-lt"/>
              </a:rPr>
              <a:t>AI/ML workloads</a:t>
            </a:r>
            <a:r>
              <a:rPr lang="en-US" sz="1800" dirty="0">
                <a:latin typeface="+mj-lt"/>
              </a:rPr>
              <a:t>, and </a:t>
            </a:r>
            <a:r>
              <a:rPr lang="en-US" sz="1800" b="1" dirty="0">
                <a:latin typeface="+mj-lt"/>
              </a:rPr>
              <a:t>microservices architectures</a:t>
            </a:r>
            <a:r>
              <a:rPr lang="en-US" sz="1800" dirty="0">
                <a:latin typeface="+mj-lt"/>
              </a:rPr>
              <a:t> for companies worldwide.</a:t>
            </a:r>
            <a:endParaRPr lang="en-US" dirty="0">
              <a:latin typeface="+mj-lt"/>
            </a:endParaRPr>
          </a:p>
        </p:txBody>
      </p:sp>
    </p:spTree>
    <p:extLst>
      <p:ext uri="{BB962C8B-B14F-4D97-AF65-F5344CB8AC3E}">
        <p14:creationId xmlns:p14="http://schemas.microsoft.com/office/powerpoint/2010/main" val="1186599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ctrTitle"/>
          </p:nvPr>
        </p:nvSpPr>
        <p:spPr>
          <a:xfrm>
            <a:off x="3463829" y="2772758"/>
            <a:ext cx="6261291" cy="2396686"/>
          </a:xfrm>
        </p:spPr>
        <p:txBody>
          <a:bodyPr anchor="b">
            <a:normAutofit/>
          </a:bodyPr>
          <a:lstStyle/>
          <a:p>
            <a:r>
              <a:rPr lang="en-US" b="1" dirty="0"/>
              <a:t>Thank you</a:t>
            </a:r>
          </a:p>
        </p:txBody>
      </p:sp>
    </p:spTree>
    <p:extLst>
      <p:ext uri="{BB962C8B-B14F-4D97-AF65-F5344CB8AC3E}">
        <p14:creationId xmlns:p14="http://schemas.microsoft.com/office/powerpoint/2010/main" val="1562484837"/>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BC90B52-91C7-4BE9-8AE0-180FFFE110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E60708A-6461-4D7F-883F-7E25D731D326}">
  <ds:schemaRefs>
    <ds:schemaRef ds:uri="http://schemas.microsoft.com/sharepoint/v3/contenttype/forms"/>
  </ds:schemaRefs>
</ds:datastoreItem>
</file>

<file path=customXml/itemProps3.xml><?xml version="1.0" encoding="utf-8"?>
<ds:datastoreItem xmlns:ds="http://schemas.openxmlformats.org/officeDocument/2006/customXml" ds:itemID="{E130005B-6102-4F3C-A26F-485DF1BF971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Shapes presentation</Template>
  <TotalTime>101</TotalTime>
  <Words>954</Words>
  <Application>Microsoft Office PowerPoint</Application>
  <PresentationFormat>Widescreen</PresentationFormat>
  <Paragraphs>99</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Aptos</vt:lpstr>
      <vt:lpstr>Arial</vt:lpstr>
      <vt:lpstr>Avenir Next LT Pro</vt:lpstr>
      <vt:lpstr>Avenir Next LT Pro Light</vt:lpstr>
      <vt:lpstr>Calibri</vt:lpstr>
      <vt:lpstr>Google Sans</vt:lpstr>
      <vt:lpstr>Nunito</vt:lpstr>
      <vt:lpstr>Tw Cen MT</vt:lpstr>
      <vt:lpstr>Wingdings</vt:lpstr>
      <vt:lpstr>Custom</vt:lpstr>
      <vt:lpstr>Container Orchestration with Kubernetes  </vt:lpstr>
      <vt:lpstr>Agenda</vt:lpstr>
      <vt:lpstr>Traditional Application Deployment</vt:lpstr>
      <vt:lpstr>Evolution Towards Containerization</vt:lpstr>
      <vt:lpstr>Introduction to Docker</vt:lpstr>
      <vt:lpstr>Container Orchestration</vt:lpstr>
      <vt:lpstr>Why Is Container Orchestration Needed? </vt:lpstr>
      <vt:lpstr>Traditional Deployment vs VMs vs Containers</vt:lpstr>
      <vt:lpstr>Kubernetes Architecture</vt:lpstr>
      <vt:lpstr>Kubernetes Architecture</vt:lpstr>
      <vt:lpstr>Kubernetes Architecture</vt:lpstr>
      <vt:lpstr>Kubernetes Architecture</vt:lpstr>
      <vt:lpstr>Advantages of Kubernetes  1. Auto-scaling and self-healing 2. Rolling updates without downtime 3. Multi-cloud compatibility 4. Declarative configuration (YAML) 5. Efficient resource utilization 6. Automation </vt:lpstr>
      <vt:lpstr>Disadvantages / Challenges  1. Complex learning curve 2. Requires strong DevOps knowledge 3. High setup &amp; maintenance costs 4. Debugging distributed apps is harder  </vt:lpstr>
      <vt:lpstr>Conclusion 1. The evolution from traditional monolithic applications to containerized microservices has completely transformed the way we develop, deploy, and scale modern applications. 2. Docker solved the problem of portability by enabling applications to run anywhere, but managing hundreds or thousands of containers manually became complex. 3. Kubernetes emerged as the industry-standard container orchestration platform, offering: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 Orchestration with Kubernetes</dc:title>
  <dc:creator>Srinivas Lingampelli</dc:creator>
  <cp:lastModifiedBy>Srinivas Lingampelli</cp:lastModifiedBy>
  <cp:revision>3</cp:revision>
  <dcterms:created xsi:type="dcterms:W3CDTF">2025-08-29T17:48:12Z</dcterms:created>
  <dcterms:modified xsi:type="dcterms:W3CDTF">2025-08-30T02:17:18Z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